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5.xml" ContentType="application/vnd.openxmlformats-officedocument.presentationml.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an architecture proposal. The Nano-Bio Lab public research page emphasizes single-cell analysis, computational cell classification and signal processing; the user indicates flow cytometry is also part of Dr. Ghosh’s work. Flow cytometry observes sampled cell populations, not the full spatial field. Yip et al. review calibration against microscopy and flow cytometry and note that rigorous validation remains challenging.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OpenFOAM and PHREEQC are conditional, not mandatory. They fit only if a study has fluid-mechanical and aqueous-speciation questions. A nanocarrier/cell experiment may need neither solver, while the clay/corrosion model may need both. Do not transplant the parameters between the two application branches.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Ghosh-facing conversation, lead with the single-cell/nanobio branch only if it matches the actual assay he runs. For Ellen Wan and Andrew Hoffman, the microbial/clay branch is relevant. The Nano-Bio Lab public page describes single-cell analysis and computational analysis of cell morphology; do not state that the current project uses a particular cytometer protocol unless confirmed.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discussion plan, not a validated protocol. In the current clay coupon pilot, cytometry would be an exploratory secondary readout and must not displace the preselected maximum-pit-depth endpoint. Repeated sampling can change volume, headspace, redox and biomass; consider sacrificial or companion vessels if sampling disturbs the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Core-Multishell Reaction-Diffusion and Microfluidic Single-Cell Classification. Shells represent simulated concentration fields (:predicted), not observed physical layers.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ghosh_slid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04672" y="713232"/>
            <a:ext cx="10789920" cy="256032"/>
          </a:xfrm>
          <a:prstGeom prst="rect">
            <a:avLst/>
          </a:prstGeom>
          <a:noFill/>
        </p:spPr>
        <p:txBody>
          <a:bodyPr wrap="square" lIns="18288" rIns="18288" tIns="18288" bIns="18288" anchor="t">
            <a:spAutoFit/>
          </a:bodyPr>
          <a:lstStyle/>
          <a:p>
            <a:pPr algn="l">
              <a:spcAft>
                <a:spcPts val="400"/>
              </a:spcAft>
            </a:pPr>
            <a:r>
              <a:rPr sz="1150" b="0">
                <a:solidFill>
                  <a:srgbClr val="A86418"/>
                </a:solidFill>
                <a:latin typeface="Arial"/>
              </a:rPr>
              <a:t>EXPLORATORY METHODS BRIDGE · NOT A VALIDATED MODEL</a:t>
            </a:r>
          </a:p>
        </p:txBody>
      </p:sp>
      <p:sp>
        <p:nvSpPr>
          <p:cNvPr id="5" name="TextBox 4"/>
          <p:cNvSpPr txBox="1"/>
          <p:nvPr/>
        </p:nvSpPr>
        <p:spPr>
          <a:xfrm>
            <a:off x="804672" y="1115568"/>
            <a:ext cx="10881360" cy="685800"/>
          </a:xfrm>
          <a:prstGeom prst="rect">
            <a:avLst/>
          </a:prstGeom>
          <a:noFill/>
        </p:spPr>
        <p:txBody>
          <a:bodyPr wrap="square" lIns="18288" rIns="18288" tIns="18288" bIns="18288" anchor="t">
            <a:spAutoFit/>
          </a:bodyPr>
          <a:lstStyle/>
          <a:p>
            <a:pPr algn="l">
              <a:spcAft>
                <a:spcPts val="400"/>
              </a:spcAft>
            </a:pPr>
            <a:r>
              <a:rPr sz="2500" b="1">
                <a:solidFill>
                  <a:srgbClr val="273238"/>
                </a:solidFill>
                <a:latin typeface="Georgia"/>
              </a:rPr>
              <a:t>The missing bridge is an observation model</a:t>
            </a:r>
          </a:p>
        </p:txBody>
      </p:sp>
      <p:sp>
        <p:nvSpPr>
          <p:cNvPr id="6" name="TextBox 5"/>
          <p:cNvSpPr txBox="1"/>
          <p:nvPr/>
        </p:nvSpPr>
        <p:spPr>
          <a:xfrm>
            <a:off x="822960" y="1810512"/>
            <a:ext cx="10789920" cy="384048"/>
          </a:xfrm>
          <a:prstGeom prst="rect">
            <a:avLst/>
          </a:prstGeom>
          <a:noFill/>
        </p:spPr>
        <p:txBody>
          <a:bodyPr wrap="square" lIns="18288" rIns="18288" tIns="18288" bIns="18288" anchor="t">
            <a:spAutoFit/>
          </a:bodyPr>
          <a:lstStyle/>
          <a:p>
            <a:pPr algn="l">
              <a:spcAft>
                <a:spcPts val="400"/>
              </a:spcAft>
            </a:pPr>
            <a:r>
              <a:rPr sz="1320" b="0">
                <a:solidFill>
                  <a:srgbClr val="536168"/>
                </a:solidFill>
                <a:latin typeface="Arial"/>
              </a:rPr>
              <a:t>A simulation predicts hidden states; flow cytometry measures a gated sample of cell-level outcomes.</a:t>
            </a:r>
          </a:p>
        </p:txBody>
      </p:sp>
      <p:sp>
        <p:nvSpPr>
          <p:cNvPr id="7" name="Rounded Rectangle 6"/>
          <p:cNvSpPr/>
          <p:nvPr/>
        </p:nvSpPr>
        <p:spPr>
          <a:xfrm>
            <a:off x="804672" y="2487168"/>
            <a:ext cx="3429000" cy="2359152"/>
          </a:xfrm>
          <a:prstGeom prst="roundRect">
            <a:avLst/>
          </a:prstGeom>
          <a:solidFill>
            <a:srgbClr val="E5E4DF"/>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606040"/>
            <a:ext cx="3136392" cy="310896"/>
          </a:xfrm>
          <a:prstGeom prst="rect">
            <a:avLst/>
          </a:prstGeom>
          <a:noFill/>
        </p:spPr>
        <p:txBody>
          <a:bodyPr wrap="square" lIns="18288" rIns="18288" tIns="18288" bIns="18288" anchor="t">
            <a:spAutoFit/>
          </a:bodyPr>
          <a:lstStyle/>
          <a:p>
            <a:pPr algn="l">
              <a:spcAft>
                <a:spcPts val="400"/>
              </a:spcAft>
            </a:pPr>
            <a:r>
              <a:rPr sz="1500" b="1">
                <a:solidFill>
                  <a:srgbClr val="536168"/>
                </a:solidFill>
                <a:latin typeface="Arial"/>
              </a:rPr>
              <a:t>1 · FORWARD MODEL</a:t>
            </a:r>
          </a:p>
        </p:txBody>
      </p:sp>
      <p:sp>
        <p:nvSpPr>
          <p:cNvPr id="9" name="TextBox 8"/>
          <p:cNvSpPr txBox="1"/>
          <p:nvPr/>
        </p:nvSpPr>
        <p:spPr>
          <a:xfrm>
            <a:off x="950976" y="2980944"/>
            <a:ext cx="3136392" cy="1764792"/>
          </a:xfrm>
          <a:prstGeom prst="rect">
            <a:avLst/>
          </a:prstGeom>
          <a:noFill/>
        </p:spPr>
        <p:txBody>
          <a:bodyPr wrap="square" lIns="18288" rIns="18288" tIns="18288" bIns="18288" anchor="t">
            <a:spAutoFit/>
          </a:bodyPr>
          <a:lstStyle/>
          <a:p>
            <a:pPr algn="l">
              <a:spcAft>
                <a:spcPts val="400"/>
              </a:spcAft>
            </a:pPr>
            <a:r>
              <a:rPr sz="1210" b="0">
                <a:solidFill>
                  <a:srgbClr val="273238"/>
                </a:solidFill>
                <a:latin typeface="Arial"/>
              </a:rPr>
              <a:t>OpenFOAM: flow, shear and residence time</a:t>
            </a:r>
          </a:p>
          <a:p>
            <a:pPr algn="l">
              <a:spcAft>
                <a:spcPts val="400"/>
              </a:spcAft>
            </a:pPr>
            <a:r>
              <a:rPr sz="1210" b="0">
                <a:solidFill>
                  <a:srgbClr val="273238"/>
                </a:solidFill>
                <a:latin typeface="Arial"/>
              </a:rPr>
              <a:t>PHREEQC: aqueous speciation and mineral equilibria</a:t>
            </a:r>
          </a:p>
          <a:p>
            <a:pPr algn="l">
              <a:spcAft>
                <a:spcPts val="400"/>
              </a:spcAft>
            </a:pPr>
            <a:r>
              <a:rPr sz="1210" b="0">
                <a:solidFill>
                  <a:srgbClr val="273238"/>
                </a:solidFill>
                <a:latin typeface="Arial"/>
              </a:rPr>
              <a:t>Julia: cell-state, reaction and transport dynamics</a:t>
            </a:r>
          </a:p>
        </p:txBody>
      </p:sp>
      <p:sp>
        <p:nvSpPr>
          <p:cNvPr id="10" name="Rounded Rectangle 9"/>
          <p:cNvSpPr/>
          <p:nvPr/>
        </p:nvSpPr>
        <p:spPr>
          <a:xfrm>
            <a:off x="4407408" y="2487168"/>
            <a:ext cx="3429000" cy="2359152"/>
          </a:xfrm>
          <a:prstGeom prst="roundRect">
            <a:avLst/>
          </a:prstGeom>
          <a:solidFill>
            <a:srgbClr val="E4EDF4"/>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2606040"/>
            <a:ext cx="3136392" cy="310896"/>
          </a:xfrm>
          <a:prstGeom prst="rect">
            <a:avLst/>
          </a:prstGeom>
          <a:noFill/>
        </p:spPr>
        <p:txBody>
          <a:bodyPr wrap="square" lIns="18288" rIns="18288" tIns="18288" bIns="18288" anchor="t">
            <a:spAutoFit/>
          </a:bodyPr>
          <a:lstStyle/>
          <a:p>
            <a:pPr algn="l">
              <a:spcAft>
                <a:spcPts val="400"/>
              </a:spcAft>
            </a:pPr>
            <a:r>
              <a:rPr sz="1500" b="1">
                <a:solidFill>
                  <a:srgbClr val="4A779D"/>
                </a:solidFill>
                <a:latin typeface="Arial"/>
              </a:rPr>
              <a:t>2 · OBSERVATION OPERATOR</a:t>
            </a:r>
          </a:p>
        </p:txBody>
      </p:sp>
      <p:sp>
        <p:nvSpPr>
          <p:cNvPr id="12" name="TextBox 11"/>
          <p:cNvSpPr txBox="1"/>
          <p:nvPr/>
        </p:nvSpPr>
        <p:spPr>
          <a:xfrm>
            <a:off x="4553712" y="2980944"/>
            <a:ext cx="3136392" cy="1764792"/>
          </a:xfrm>
          <a:prstGeom prst="rect">
            <a:avLst/>
          </a:prstGeom>
          <a:noFill/>
        </p:spPr>
        <p:txBody>
          <a:bodyPr wrap="square" lIns="18288" rIns="18288" tIns="18288" bIns="18288" anchor="t">
            <a:spAutoFit/>
          </a:bodyPr>
          <a:lstStyle/>
          <a:p>
            <a:pPr algn="l">
              <a:spcAft>
                <a:spcPts val="400"/>
              </a:spcAft>
            </a:pPr>
            <a:r>
              <a:rPr sz="1210" b="0">
                <a:solidFill>
                  <a:srgbClr val="273238"/>
                </a:solidFill>
                <a:latin typeface="Arial"/>
              </a:rPr>
              <a:t>Project latent state to sample-specific outputs:</a:t>
            </a:r>
          </a:p>
          <a:p>
            <a:pPr algn="l">
              <a:spcAft>
                <a:spcPts val="400"/>
              </a:spcAft>
            </a:pPr>
            <a:r>
              <a:rPr sz="1210" b="0">
                <a:solidFill>
                  <a:srgbClr val="273238"/>
                </a:solidFill>
                <a:latin typeface="Arial"/>
              </a:rPr>
              <a:t>• absolute gated-cell concentration</a:t>
            </a:r>
          </a:p>
          <a:p>
            <a:pPr algn="l">
              <a:spcAft>
                <a:spcPts val="400"/>
              </a:spcAft>
            </a:pPr>
            <a:r>
              <a:rPr sz="1210" b="0">
                <a:solidFill>
                  <a:srgbClr val="273238"/>
                </a:solidFill>
                <a:latin typeface="Arial"/>
              </a:rPr>
              <a:t>• membrane-integrity gate fractions</a:t>
            </a:r>
          </a:p>
          <a:p>
            <a:pPr algn="l">
              <a:spcAft>
                <a:spcPts val="400"/>
              </a:spcAft>
            </a:pPr>
            <a:r>
              <a:rPr sz="1210" b="0">
                <a:solidFill>
                  <a:srgbClr val="273238"/>
                </a:solidFill>
                <a:latin typeface="Arial"/>
              </a:rPr>
              <a:t>• fluorescence / scatter distributions</a:t>
            </a:r>
          </a:p>
          <a:p>
            <a:pPr algn="l">
              <a:spcAft>
                <a:spcPts val="400"/>
              </a:spcAft>
            </a:pPr>
            <a:r>
              <a:rPr sz="1210" b="0">
                <a:solidFill>
                  <a:srgbClr val="273238"/>
                </a:solidFill>
                <a:latin typeface="Arial"/>
              </a:rPr>
              <a:t>Include calibration, sampling and recovery.</a:t>
            </a:r>
          </a:p>
        </p:txBody>
      </p:sp>
      <p:sp>
        <p:nvSpPr>
          <p:cNvPr id="13" name="Rounded Rectangle 12"/>
          <p:cNvSpPr/>
          <p:nvPr/>
        </p:nvSpPr>
        <p:spPr>
          <a:xfrm>
            <a:off x="8019288" y="2487168"/>
            <a:ext cx="3429000" cy="2359152"/>
          </a:xfrm>
          <a:prstGeom prst="roundRect">
            <a:avLst/>
          </a:prstGeom>
          <a:solidFill>
            <a:srgbClr val="E1EBE6"/>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2606040"/>
            <a:ext cx="3136392" cy="310896"/>
          </a:xfrm>
          <a:prstGeom prst="rect">
            <a:avLst/>
          </a:prstGeom>
          <a:noFill/>
        </p:spPr>
        <p:txBody>
          <a:bodyPr wrap="square" lIns="18288" rIns="18288" tIns="18288" bIns="18288" anchor="t">
            <a:spAutoFit/>
          </a:bodyPr>
          <a:lstStyle/>
          <a:p>
            <a:pPr algn="l">
              <a:spcAft>
                <a:spcPts val="400"/>
              </a:spcAft>
            </a:pPr>
            <a:r>
              <a:rPr sz="1500" b="1">
                <a:solidFill>
                  <a:srgbClr val="3C6D65"/>
                </a:solidFill>
                <a:latin typeface="Arial"/>
              </a:rPr>
              <a:t>3 · INFERENCE &amp; FALSIFICATION</a:t>
            </a:r>
          </a:p>
        </p:txBody>
      </p:sp>
      <p:sp>
        <p:nvSpPr>
          <p:cNvPr id="15" name="TextBox 14"/>
          <p:cNvSpPr txBox="1"/>
          <p:nvPr/>
        </p:nvSpPr>
        <p:spPr>
          <a:xfrm>
            <a:off x="8165592" y="2980944"/>
            <a:ext cx="3136392" cy="1764792"/>
          </a:xfrm>
          <a:prstGeom prst="rect">
            <a:avLst/>
          </a:prstGeom>
          <a:noFill/>
        </p:spPr>
        <p:txBody>
          <a:bodyPr wrap="square" lIns="18288" rIns="18288" tIns="18288" bIns="18288" anchor="t">
            <a:spAutoFit/>
          </a:bodyPr>
          <a:lstStyle/>
          <a:p>
            <a:pPr algn="l">
              <a:spcAft>
                <a:spcPts val="400"/>
              </a:spcAft>
            </a:pPr>
            <a:r>
              <a:rPr sz="1210" b="0">
                <a:solidFill>
                  <a:srgbClr val="273238"/>
                </a:solidFill>
                <a:latin typeface="Arial"/>
              </a:rPr>
              <a:t>Compare predicted and measured summaries.</a:t>
            </a:r>
          </a:p>
          <a:p>
            <a:pPr algn="l">
              <a:spcAft>
                <a:spcPts val="400"/>
              </a:spcAft>
            </a:pPr>
            <a:r>
              <a:rPr sz="1210" b="0">
                <a:solidFill>
                  <a:srgbClr val="273238"/>
                </a:solidFill>
                <a:latin typeface="Arial"/>
              </a:rPr>
              <a:t>Estimate uncertainty in rates.</a:t>
            </a:r>
          </a:p>
          <a:p>
            <a:pPr algn="l">
              <a:spcAft>
                <a:spcPts val="400"/>
              </a:spcAft>
            </a:pPr>
            <a:r>
              <a:rPr sz="1210" b="0">
                <a:solidFill>
                  <a:srgbClr val="273238"/>
                </a:solidFill>
                <a:latin typeface="Arial"/>
              </a:rPr>
              <a:t>Test rival mechanisms and held-out time points.</a:t>
            </a:r>
          </a:p>
          <a:p>
            <a:pPr algn="l">
              <a:spcAft>
                <a:spcPts val="400"/>
              </a:spcAft>
            </a:pPr>
            <a:r>
              <a:rPr sz="1210" b="0">
                <a:solidFill>
                  <a:srgbClr val="273238"/>
                </a:solidFill>
                <a:latin typeface="Arial"/>
              </a:rPr>
              <a:t>Do not treat one good fit as unique causality.</a:t>
            </a:r>
          </a:p>
        </p:txBody>
      </p:sp>
      <p:cxnSp>
        <p:nvCxnSpPr>
          <p:cNvPr id="16" name="Connector 15"/>
          <p:cNvCxnSpPr/>
          <p:nvPr/>
        </p:nvCxnSpPr>
        <p:spPr>
          <a:xfrm>
            <a:off x="4251960" y="3657600"/>
            <a:ext cx="118872" cy="0"/>
          </a:xfrm>
          <a:prstGeom prst="line">
            <a:avLst/>
          </a:prstGeom>
          <a:ln w="25400">
            <a:solidFill>
              <a:srgbClr val="3C6D65"/>
            </a:solidFill>
          </a:ln>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4297680" y="3584448"/>
            <a:ext cx="146304" cy="146304"/>
          </a:xfrm>
          <a:prstGeom prst="triangle">
            <a:avLst/>
          </a:prstGeom>
          <a:solidFill>
            <a:srgbClr val="3C6D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7863840" y="3657600"/>
            <a:ext cx="109728" cy="0"/>
          </a:xfrm>
          <a:prstGeom prst="line">
            <a:avLst/>
          </a:prstGeom>
          <a:ln w="25400">
            <a:solidFill>
              <a:srgbClr val="3C6D65"/>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7900416" y="3584448"/>
            <a:ext cx="146304" cy="146304"/>
          </a:xfrm>
          <a:prstGeom prst="triangle">
            <a:avLst/>
          </a:prstGeom>
          <a:solidFill>
            <a:srgbClr val="3C6D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4672" y="5138928"/>
            <a:ext cx="10917936" cy="621792"/>
          </a:xfrm>
          <a:prstGeom prst="roundRect">
            <a:avLst/>
          </a:prstGeom>
          <a:solidFill>
            <a:srgbClr val="F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276088"/>
            <a:ext cx="10515600" cy="347472"/>
          </a:xfrm>
          <a:prstGeom prst="rect">
            <a:avLst/>
          </a:prstGeom>
          <a:noFill/>
        </p:spPr>
        <p:txBody>
          <a:bodyPr wrap="square" lIns="18288" rIns="18288" tIns="18288" bIns="18288" anchor="ctr">
            <a:spAutoFit/>
          </a:bodyPr>
          <a:lstStyle/>
          <a:p>
            <a:pPr algn="l">
              <a:spcAft>
                <a:spcPts val="400"/>
              </a:spcAft>
            </a:pPr>
            <a:r>
              <a:rPr sz="1310" b="1">
                <a:solidFill>
                  <a:srgbClr val="273238"/>
                </a:solidFill>
                <a:latin typeface="Arial"/>
              </a:rPr>
              <a:t>Flow cytometry belongs in the measurement / likelihood layer, not inside the CFD or geochemical solver.</a:t>
            </a:r>
          </a:p>
        </p:txBody>
      </p:sp>
      <p:sp>
        <p:nvSpPr>
          <p:cNvPr id="22" name="TextBox 21"/>
          <p:cNvSpPr txBox="1"/>
          <p:nvPr/>
        </p:nvSpPr>
        <p:spPr>
          <a:xfrm>
            <a:off x="804672" y="6272784"/>
            <a:ext cx="10881360" cy="219456"/>
          </a:xfrm>
          <a:prstGeom prst="rect">
            <a:avLst/>
          </a:prstGeom>
          <a:noFill/>
        </p:spPr>
        <p:txBody>
          <a:bodyPr wrap="square" lIns="18288" rIns="18288" tIns="18288" bIns="18288" anchor="t">
            <a:spAutoFit/>
          </a:bodyPr>
          <a:lstStyle/>
          <a:p>
            <a:pPr algn="l">
              <a:spcAft>
                <a:spcPts val="400"/>
              </a:spcAft>
            </a:pPr>
            <a:r>
              <a:rPr sz="919" b="0">
                <a:solidFill>
                  <a:srgbClr val="536168"/>
                </a:solidFill>
                <a:latin typeface="Arial"/>
              </a:rPr>
              <a:t>Calibration precedent: Yip et al. (2022), PLOS Comput Biol 18(10):e1010533, https://doi.org/10.1371/journal.pcbi.1010533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04672" y="713232"/>
            <a:ext cx="10789920" cy="256032"/>
          </a:xfrm>
          <a:prstGeom prst="rect">
            <a:avLst/>
          </a:prstGeom>
          <a:noFill/>
        </p:spPr>
        <p:txBody>
          <a:bodyPr wrap="square" lIns="18288" rIns="18288" tIns="18288" bIns="18288" anchor="t">
            <a:spAutoFit/>
          </a:bodyPr>
          <a:lstStyle/>
          <a:p>
            <a:pPr algn="l">
              <a:spcAft>
                <a:spcPts val="400"/>
              </a:spcAft>
            </a:pPr>
            <a:r>
              <a:rPr sz="1150" b="0">
                <a:solidFill>
                  <a:srgbClr val="A86418"/>
                </a:solidFill>
                <a:latin typeface="Arial"/>
              </a:rPr>
              <a:t>ARCHITECTURE · KEEP THE SOLVERS IN THEIR LANES</a:t>
            </a:r>
          </a:p>
        </p:txBody>
      </p:sp>
      <p:sp>
        <p:nvSpPr>
          <p:cNvPr id="5" name="TextBox 4"/>
          <p:cNvSpPr txBox="1"/>
          <p:nvPr/>
        </p:nvSpPr>
        <p:spPr>
          <a:xfrm>
            <a:off x="804672" y="1115568"/>
            <a:ext cx="10881360" cy="685800"/>
          </a:xfrm>
          <a:prstGeom prst="rect">
            <a:avLst/>
          </a:prstGeom>
          <a:noFill/>
        </p:spPr>
        <p:txBody>
          <a:bodyPr wrap="square" lIns="18288" rIns="18288" tIns="18288" bIns="18288" anchor="t">
            <a:spAutoFit/>
          </a:bodyPr>
          <a:lstStyle/>
          <a:p>
            <a:pPr algn="l">
              <a:spcAft>
                <a:spcPts val="400"/>
              </a:spcAft>
            </a:pPr>
            <a:r>
              <a:rPr sz="2500" b="1">
                <a:solidFill>
                  <a:srgbClr val="273238"/>
                </a:solidFill>
                <a:latin typeface="Georgia"/>
              </a:rPr>
              <a:t>One modular stack, two independent kinds of inputs</a:t>
            </a:r>
          </a:p>
        </p:txBody>
      </p:sp>
      <p:sp>
        <p:nvSpPr>
          <p:cNvPr id="6" name="TextBox 5"/>
          <p:cNvSpPr txBox="1"/>
          <p:nvPr/>
        </p:nvSpPr>
        <p:spPr>
          <a:xfrm>
            <a:off x="822960" y="1810512"/>
            <a:ext cx="10789920" cy="384048"/>
          </a:xfrm>
          <a:prstGeom prst="rect">
            <a:avLst/>
          </a:prstGeom>
          <a:noFill/>
        </p:spPr>
        <p:txBody>
          <a:bodyPr wrap="square" lIns="18288" rIns="18288" tIns="18288" bIns="18288" anchor="t">
            <a:spAutoFit/>
          </a:bodyPr>
          <a:lstStyle/>
          <a:p>
            <a:pPr algn="l">
              <a:spcAft>
                <a:spcPts val="400"/>
              </a:spcAft>
            </a:pPr>
            <a:r>
              <a:rPr sz="1320" b="0">
                <a:solidFill>
                  <a:srgbClr val="536168"/>
                </a:solidFill>
                <a:latin typeface="Arial"/>
              </a:rPr>
              <a:t>Only couple a solver if its fields represent a real part of the target experiment.</a:t>
            </a:r>
          </a:p>
        </p:txBody>
      </p:sp>
      <p:sp>
        <p:nvSpPr>
          <p:cNvPr id="7" name="Rounded Rectangle 6"/>
          <p:cNvSpPr/>
          <p:nvPr/>
        </p:nvSpPr>
        <p:spPr>
          <a:xfrm>
            <a:off x="804672" y="2331720"/>
            <a:ext cx="2331720" cy="1325880"/>
          </a:xfrm>
          <a:prstGeom prst="roundRect">
            <a:avLst/>
          </a:prstGeom>
          <a:solidFill>
            <a:srgbClr val="E5E4DF"/>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450591"/>
            <a:ext cx="2039112" cy="310896"/>
          </a:xfrm>
          <a:prstGeom prst="rect">
            <a:avLst/>
          </a:prstGeom>
          <a:noFill/>
        </p:spPr>
        <p:txBody>
          <a:bodyPr wrap="square" lIns="18288" rIns="18288" tIns="18288" bIns="18288" anchor="t">
            <a:spAutoFit/>
          </a:bodyPr>
          <a:lstStyle/>
          <a:p>
            <a:pPr algn="l">
              <a:spcAft>
                <a:spcPts val="400"/>
              </a:spcAft>
            </a:pPr>
            <a:r>
              <a:rPr sz="1400" b="1">
                <a:solidFill>
                  <a:srgbClr val="536168"/>
                </a:solidFill>
                <a:latin typeface="Arial"/>
              </a:rPr>
              <a:t>OPENFOAM</a:t>
            </a:r>
          </a:p>
        </p:txBody>
      </p:sp>
      <p:sp>
        <p:nvSpPr>
          <p:cNvPr id="9" name="TextBox 8"/>
          <p:cNvSpPr txBox="1"/>
          <p:nvPr/>
        </p:nvSpPr>
        <p:spPr>
          <a:xfrm>
            <a:off x="950976" y="2825496"/>
            <a:ext cx="2039112" cy="731519"/>
          </a:xfrm>
          <a:prstGeom prst="rect">
            <a:avLst/>
          </a:prstGeom>
          <a:noFill/>
        </p:spPr>
        <p:txBody>
          <a:bodyPr wrap="square" lIns="18288" rIns="18288" tIns="18288" bIns="18288" anchor="t">
            <a:spAutoFit/>
          </a:bodyPr>
          <a:lstStyle/>
          <a:p>
            <a:pPr algn="l">
              <a:spcAft>
                <a:spcPts val="400"/>
              </a:spcAft>
            </a:pPr>
            <a:r>
              <a:rPr sz="1140" b="0">
                <a:solidFill>
                  <a:srgbClr val="273238"/>
                </a:solidFill>
                <a:latin typeface="Arial"/>
              </a:rPr>
              <a:t>Velocity u(x,t), pressure, shear, residence time and transport.</a:t>
            </a:r>
          </a:p>
        </p:txBody>
      </p:sp>
      <p:sp>
        <p:nvSpPr>
          <p:cNvPr id="10" name="Rounded Rectangle 9"/>
          <p:cNvSpPr/>
          <p:nvPr/>
        </p:nvSpPr>
        <p:spPr>
          <a:xfrm>
            <a:off x="804672" y="3913632"/>
            <a:ext cx="2331720" cy="1325880"/>
          </a:xfrm>
          <a:prstGeom prst="roundRect">
            <a:avLst/>
          </a:prstGeom>
          <a:solidFill>
            <a:srgbClr val="F5E5C5"/>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4032504"/>
            <a:ext cx="2039112" cy="310896"/>
          </a:xfrm>
          <a:prstGeom prst="rect">
            <a:avLst/>
          </a:prstGeom>
          <a:noFill/>
        </p:spPr>
        <p:txBody>
          <a:bodyPr wrap="square" lIns="18288" rIns="18288" tIns="18288" bIns="18288" anchor="t">
            <a:spAutoFit/>
          </a:bodyPr>
          <a:lstStyle/>
          <a:p>
            <a:pPr algn="l">
              <a:spcAft>
                <a:spcPts val="400"/>
              </a:spcAft>
            </a:pPr>
            <a:r>
              <a:rPr sz="1400" b="1">
                <a:solidFill>
                  <a:srgbClr val="A86418"/>
                </a:solidFill>
                <a:latin typeface="Arial"/>
              </a:rPr>
              <a:t>PHREEQC</a:t>
            </a:r>
          </a:p>
        </p:txBody>
      </p:sp>
      <p:sp>
        <p:nvSpPr>
          <p:cNvPr id="12" name="TextBox 11"/>
          <p:cNvSpPr txBox="1"/>
          <p:nvPr/>
        </p:nvSpPr>
        <p:spPr>
          <a:xfrm>
            <a:off x="950976" y="4407408"/>
            <a:ext cx="2039112" cy="731519"/>
          </a:xfrm>
          <a:prstGeom prst="rect">
            <a:avLst/>
          </a:prstGeom>
          <a:noFill/>
        </p:spPr>
        <p:txBody>
          <a:bodyPr wrap="square" lIns="18288" rIns="18288" tIns="18288" bIns="18288" anchor="t">
            <a:spAutoFit/>
          </a:bodyPr>
          <a:lstStyle/>
          <a:p>
            <a:pPr algn="l">
              <a:spcAft>
                <a:spcPts val="400"/>
              </a:spcAft>
            </a:pPr>
            <a:r>
              <a:rPr sz="1120" b="0">
                <a:solidFill>
                  <a:srgbClr val="273238"/>
                </a:solidFill>
                <a:latin typeface="Arial"/>
              </a:rPr>
              <a:t>pH / pe, ionic strength, aqueous species, Fe/S chemistry and mineral saturation.</a:t>
            </a:r>
          </a:p>
        </p:txBody>
      </p:sp>
      <p:sp>
        <p:nvSpPr>
          <p:cNvPr id="13" name="Rounded Rectangle 12"/>
          <p:cNvSpPr/>
          <p:nvPr/>
        </p:nvSpPr>
        <p:spPr>
          <a:xfrm>
            <a:off x="3703320" y="3026664"/>
            <a:ext cx="2423160" cy="1554480"/>
          </a:xfrm>
          <a:prstGeom prst="roundRect">
            <a:avLst/>
          </a:prstGeom>
          <a:solidFill>
            <a:srgbClr val="E1EBE6"/>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9624" y="3145536"/>
            <a:ext cx="2130552" cy="310896"/>
          </a:xfrm>
          <a:prstGeom prst="rect">
            <a:avLst/>
          </a:prstGeom>
          <a:noFill/>
        </p:spPr>
        <p:txBody>
          <a:bodyPr wrap="square" lIns="18288" rIns="18288" tIns="18288" bIns="18288" anchor="t">
            <a:spAutoFit/>
          </a:bodyPr>
          <a:lstStyle/>
          <a:p>
            <a:pPr algn="l">
              <a:spcAft>
                <a:spcPts val="400"/>
              </a:spcAft>
            </a:pPr>
            <a:r>
              <a:rPr sz="1400" b="1">
                <a:solidFill>
                  <a:srgbClr val="3C6D65"/>
                </a:solidFill>
                <a:latin typeface="Arial"/>
              </a:rPr>
              <a:t>JULIA STATE MODEL</a:t>
            </a:r>
          </a:p>
        </p:txBody>
      </p:sp>
      <p:sp>
        <p:nvSpPr>
          <p:cNvPr id="15" name="TextBox 14"/>
          <p:cNvSpPr txBox="1"/>
          <p:nvPr/>
        </p:nvSpPr>
        <p:spPr>
          <a:xfrm>
            <a:off x="3849624" y="3520440"/>
            <a:ext cx="2130552" cy="960119"/>
          </a:xfrm>
          <a:prstGeom prst="rect">
            <a:avLst/>
          </a:prstGeom>
          <a:noFill/>
        </p:spPr>
        <p:txBody>
          <a:bodyPr wrap="square" lIns="18288" rIns="18288" tIns="18288" bIns="18288" anchor="t">
            <a:spAutoFit/>
          </a:bodyPr>
          <a:lstStyle/>
          <a:p>
            <a:pPr algn="l">
              <a:spcAft>
                <a:spcPts val="400"/>
              </a:spcAft>
            </a:pPr>
            <a:r>
              <a:rPr sz="1150" b="0">
                <a:solidFill>
                  <a:srgbClr val="273238"/>
                </a:solidFill>
                <a:latin typeface="Arial"/>
              </a:rPr>
              <a:t>Attached / suspended cells; state fractions; growth, death, attachment, detachment and EPS proxy.</a:t>
            </a:r>
          </a:p>
        </p:txBody>
      </p:sp>
      <p:sp>
        <p:nvSpPr>
          <p:cNvPr id="16" name="Rounded Rectangle 15"/>
          <p:cNvSpPr/>
          <p:nvPr/>
        </p:nvSpPr>
        <p:spPr>
          <a:xfrm>
            <a:off x="6766560" y="3026664"/>
            <a:ext cx="2240280" cy="1554480"/>
          </a:xfrm>
          <a:prstGeom prst="roundRect">
            <a:avLst/>
          </a:prstGeom>
          <a:solidFill>
            <a:srgbClr val="E4EDF4"/>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2864" y="3145536"/>
            <a:ext cx="1947672" cy="310896"/>
          </a:xfrm>
          <a:prstGeom prst="rect">
            <a:avLst/>
          </a:prstGeom>
          <a:noFill/>
        </p:spPr>
        <p:txBody>
          <a:bodyPr wrap="square" lIns="18288" rIns="18288" tIns="18288" bIns="18288" anchor="t">
            <a:spAutoFit/>
          </a:bodyPr>
          <a:lstStyle/>
          <a:p>
            <a:pPr algn="l">
              <a:spcAft>
                <a:spcPts val="400"/>
              </a:spcAft>
            </a:pPr>
            <a:r>
              <a:rPr sz="1320" b="1">
                <a:solidFill>
                  <a:srgbClr val="4A779D"/>
                </a:solidFill>
                <a:latin typeface="Arial"/>
              </a:rPr>
              <a:t>FCM PREDICTION</a:t>
            </a:r>
          </a:p>
        </p:txBody>
      </p:sp>
      <p:sp>
        <p:nvSpPr>
          <p:cNvPr id="18" name="TextBox 17"/>
          <p:cNvSpPr txBox="1"/>
          <p:nvPr/>
        </p:nvSpPr>
        <p:spPr>
          <a:xfrm>
            <a:off x="6912864" y="3520440"/>
            <a:ext cx="1947672" cy="960119"/>
          </a:xfrm>
          <a:prstGeom prst="rect">
            <a:avLst/>
          </a:prstGeom>
          <a:noFill/>
        </p:spPr>
        <p:txBody>
          <a:bodyPr wrap="square" lIns="18288" rIns="18288" tIns="18288" bIns="18288" anchor="t">
            <a:spAutoFit/>
          </a:bodyPr>
          <a:lstStyle/>
          <a:p>
            <a:pPr algn="l">
              <a:spcAft>
                <a:spcPts val="400"/>
              </a:spcAft>
            </a:pPr>
            <a:r>
              <a:rPr sz="1140" b="0">
                <a:solidFill>
                  <a:srgbClr val="273238"/>
                </a:solidFill>
                <a:latin typeface="Arial"/>
              </a:rPr>
              <a:t>Predict the exact quantities the gates report, including calibration and sample-origin effects.</a:t>
            </a:r>
          </a:p>
        </p:txBody>
      </p:sp>
      <p:sp>
        <p:nvSpPr>
          <p:cNvPr id="19" name="Rounded Rectangle 18"/>
          <p:cNvSpPr/>
          <p:nvPr/>
        </p:nvSpPr>
        <p:spPr>
          <a:xfrm>
            <a:off x="9628632" y="2331720"/>
            <a:ext cx="2093976" cy="1325880"/>
          </a:xfrm>
          <a:prstGeom prst="roundRect">
            <a:avLst/>
          </a:prstGeom>
          <a:solidFill>
            <a:srgbClr val="FFFFFF"/>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74936" y="2450591"/>
            <a:ext cx="1801368" cy="310896"/>
          </a:xfrm>
          <a:prstGeom prst="rect">
            <a:avLst/>
          </a:prstGeom>
          <a:noFill/>
        </p:spPr>
        <p:txBody>
          <a:bodyPr wrap="square" lIns="18288" rIns="18288" tIns="18288" bIns="18288" anchor="t">
            <a:spAutoFit/>
          </a:bodyPr>
          <a:lstStyle/>
          <a:p>
            <a:pPr algn="l">
              <a:spcAft>
                <a:spcPts val="400"/>
              </a:spcAft>
            </a:pPr>
            <a:r>
              <a:rPr sz="1300" b="1">
                <a:solidFill>
                  <a:srgbClr val="4A779D"/>
                </a:solidFill>
                <a:latin typeface="Arial"/>
              </a:rPr>
              <a:t>MEASURED FCM</a:t>
            </a:r>
          </a:p>
        </p:txBody>
      </p:sp>
      <p:sp>
        <p:nvSpPr>
          <p:cNvPr id="21" name="TextBox 20"/>
          <p:cNvSpPr txBox="1"/>
          <p:nvPr/>
        </p:nvSpPr>
        <p:spPr>
          <a:xfrm>
            <a:off x="9774936" y="2825496"/>
            <a:ext cx="1801368" cy="731519"/>
          </a:xfrm>
          <a:prstGeom prst="rect">
            <a:avLst/>
          </a:prstGeom>
          <a:noFill/>
        </p:spPr>
        <p:txBody>
          <a:bodyPr wrap="square" lIns="18288" rIns="18288" tIns="18288" bIns="18288" anchor="t">
            <a:spAutoFit/>
          </a:bodyPr>
          <a:lstStyle/>
          <a:p>
            <a:pPr algn="l">
              <a:spcAft>
                <a:spcPts val="400"/>
              </a:spcAft>
            </a:pPr>
            <a:r>
              <a:rPr sz="1080" b="0">
                <a:solidFill>
                  <a:srgbClr val="273238"/>
                </a:solidFill>
                <a:latin typeface="Arial"/>
              </a:rPr>
              <a:t>Raw events, saved gates, counting beads, dilution and recovery.</a:t>
            </a:r>
          </a:p>
        </p:txBody>
      </p:sp>
      <p:sp>
        <p:nvSpPr>
          <p:cNvPr id="22" name="Rounded Rectangle 21"/>
          <p:cNvSpPr/>
          <p:nvPr/>
        </p:nvSpPr>
        <p:spPr>
          <a:xfrm>
            <a:off x="9628632" y="3913632"/>
            <a:ext cx="2093976" cy="1325880"/>
          </a:xfrm>
          <a:prstGeom prst="roundRect">
            <a:avLst/>
          </a:prstGeom>
          <a:solidFill>
            <a:srgbClr val="F3E2DE"/>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74936" y="4032504"/>
            <a:ext cx="1801368" cy="310896"/>
          </a:xfrm>
          <a:prstGeom prst="rect">
            <a:avLst/>
          </a:prstGeom>
          <a:noFill/>
        </p:spPr>
        <p:txBody>
          <a:bodyPr wrap="square" lIns="18288" rIns="18288" tIns="18288" bIns="18288" anchor="t">
            <a:spAutoFit/>
          </a:bodyPr>
          <a:lstStyle/>
          <a:p>
            <a:pPr algn="l">
              <a:spcAft>
                <a:spcPts val="400"/>
              </a:spcAft>
            </a:pPr>
            <a:r>
              <a:rPr sz="1300" b="1">
                <a:solidFill>
                  <a:srgbClr val="A34C43"/>
                </a:solidFill>
                <a:latin typeface="Arial"/>
              </a:rPr>
              <a:t>MODEL CHECK</a:t>
            </a:r>
          </a:p>
        </p:txBody>
      </p:sp>
      <p:sp>
        <p:nvSpPr>
          <p:cNvPr id="24" name="TextBox 23"/>
          <p:cNvSpPr txBox="1"/>
          <p:nvPr/>
        </p:nvSpPr>
        <p:spPr>
          <a:xfrm>
            <a:off x="9774936" y="4407408"/>
            <a:ext cx="1801368" cy="731519"/>
          </a:xfrm>
          <a:prstGeom prst="rect">
            <a:avLst/>
          </a:prstGeom>
          <a:noFill/>
        </p:spPr>
        <p:txBody>
          <a:bodyPr wrap="square" lIns="18288" rIns="18288" tIns="18288" bIns="18288" anchor="t">
            <a:spAutoFit/>
          </a:bodyPr>
          <a:lstStyle/>
          <a:p>
            <a:pPr algn="l">
              <a:spcAft>
                <a:spcPts val="400"/>
              </a:spcAft>
            </a:pPr>
            <a:r>
              <a:rPr sz="1080" b="0">
                <a:solidFill>
                  <a:srgbClr val="273238"/>
                </a:solidFill>
                <a:latin typeface="Arial"/>
              </a:rPr>
              <a:t>Compare distributions; quantify uncertainty and check rival models.</a:t>
            </a:r>
          </a:p>
        </p:txBody>
      </p:sp>
      <p:cxnSp>
        <p:nvCxnSpPr>
          <p:cNvPr id="25" name="Connector 24"/>
          <p:cNvCxnSpPr/>
          <p:nvPr/>
        </p:nvCxnSpPr>
        <p:spPr>
          <a:xfrm>
            <a:off x="3136392" y="2971800"/>
            <a:ext cx="530352" cy="493776"/>
          </a:xfrm>
          <a:prstGeom prst="line">
            <a:avLst/>
          </a:prstGeom>
          <a:ln w="25400">
            <a:solidFill>
              <a:srgbClr val="536168"/>
            </a:solidFill>
          </a:ln>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3593591" y="3392424"/>
            <a:ext cx="146304" cy="146304"/>
          </a:xfrm>
          <a:prstGeom prst="triangle">
            <a:avLst/>
          </a:prstGeom>
          <a:solidFill>
            <a:srgbClr val="536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V="1">
            <a:off x="3136392" y="4041648"/>
            <a:ext cx="530352" cy="475488"/>
          </a:xfrm>
          <a:prstGeom prst="line">
            <a:avLst/>
          </a:prstGeom>
          <a:ln w="25400">
            <a:solidFill>
              <a:srgbClr val="A86418"/>
            </a:solidFill>
          </a:ln>
        </p:spPr>
        <p:style>
          <a:lnRef idx="2">
            <a:schemeClr val="accent1"/>
          </a:lnRef>
          <a:fillRef idx="0">
            <a:schemeClr val="accent1"/>
          </a:fillRef>
          <a:effectRef idx="1">
            <a:schemeClr val="accent1"/>
          </a:effectRef>
          <a:fontRef idx="minor">
            <a:schemeClr val="tx1"/>
          </a:fontRef>
        </p:style>
      </p:cxnSp>
      <p:sp>
        <p:nvSpPr>
          <p:cNvPr id="28" name="Isosceles Triangle 27"/>
          <p:cNvSpPr/>
          <p:nvPr/>
        </p:nvSpPr>
        <p:spPr>
          <a:xfrm rot="5400000">
            <a:off x="3593591" y="3968496"/>
            <a:ext cx="146304" cy="146304"/>
          </a:xfrm>
          <a:prstGeom prst="triangle">
            <a:avLst/>
          </a:prstGeom>
          <a:solidFill>
            <a:srgbClr val="A86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6126480" y="3803904"/>
            <a:ext cx="594360" cy="0"/>
          </a:xfrm>
          <a:prstGeom prst="line">
            <a:avLst/>
          </a:prstGeom>
          <a:ln w="25400">
            <a:solidFill>
              <a:srgbClr val="3C6D65"/>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5400000">
            <a:off x="6647688" y="3730752"/>
            <a:ext cx="146304" cy="146304"/>
          </a:xfrm>
          <a:prstGeom prst="triangle">
            <a:avLst/>
          </a:prstGeom>
          <a:solidFill>
            <a:srgbClr val="3C6D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9006840" y="4206240"/>
            <a:ext cx="576072" cy="310896"/>
          </a:xfrm>
          <a:prstGeom prst="line">
            <a:avLst/>
          </a:prstGeom>
          <a:ln w="25400">
            <a:solidFill>
              <a:srgbClr val="4A779D"/>
            </a:solidFill>
          </a:ln>
        </p:spPr>
        <p:style>
          <a:lnRef idx="2">
            <a:schemeClr val="accent1"/>
          </a:lnRef>
          <a:fillRef idx="0">
            <a:schemeClr val="accent1"/>
          </a:fillRef>
          <a:effectRef idx="1">
            <a:schemeClr val="accent1"/>
          </a:effectRef>
          <a:fontRef idx="minor">
            <a:schemeClr val="tx1"/>
          </a:fontRef>
        </p:style>
      </p:cxnSp>
      <p:sp>
        <p:nvSpPr>
          <p:cNvPr id="32" name="Isosceles Triangle 31"/>
          <p:cNvSpPr/>
          <p:nvPr/>
        </p:nvSpPr>
        <p:spPr>
          <a:xfrm rot="5400000">
            <a:off x="9509760" y="4443984"/>
            <a:ext cx="146304" cy="146304"/>
          </a:xfrm>
          <a:prstGeom prst="triangle">
            <a:avLst/>
          </a:prstGeom>
          <a:solidFill>
            <a:srgbClr val="4A77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10661904" y="3675887"/>
            <a:ext cx="0" cy="210313"/>
          </a:xfrm>
          <a:prstGeom prst="line">
            <a:avLst/>
          </a:prstGeom>
          <a:ln w="25400">
            <a:solidFill>
              <a:srgbClr val="A86418"/>
            </a:solidFill>
          </a:ln>
        </p:spPr>
        <p:style>
          <a:lnRef idx="2">
            <a:schemeClr val="accent1"/>
          </a:lnRef>
          <a:fillRef idx="0">
            <a:schemeClr val="accent1"/>
          </a:fillRef>
          <a:effectRef idx="1">
            <a:schemeClr val="accent1"/>
          </a:effectRef>
          <a:fontRef idx="minor">
            <a:schemeClr val="tx1"/>
          </a:fontRef>
        </p:style>
      </p:cxnSp>
      <p:sp>
        <p:nvSpPr>
          <p:cNvPr id="34" name="Isosceles Triangle 33"/>
          <p:cNvSpPr/>
          <p:nvPr/>
        </p:nvSpPr>
        <p:spPr>
          <a:xfrm rot="5400000">
            <a:off x="10588752" y="3813048"/>
            <a:ext cx="146304" cy="146304"/>
          </a:xfrm>
          <a:prstGeom prst="triangle">
            <a:avLst/>
          </a:prstGeom>
          <a:solidFill>
            <a:srgbClr val="A86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04672" y="5422392"/>
            <a:ext cx="10917936" cy="466344"/>
          </a:xfrm>
          <a:prstGeom prst="roundRect">
            <a:avLst/>
          </a:prstGeom>
          <a:solidFill>
            <a:srgbClr val="F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5495544"/>
            <a:ext cx="10561320" cy="310896"/>
          </a:xfrm>
          <a:prstGeom prst="rect">
            <a:avLst/>
          </a:prstGeom>
          <a:noFill/>
        </p:spPr>
        <p:txBody>
          <a:bodyPr wrap="square" lIns="18288" rIns="18288" tIns="18288" bIns="18288" anchor="ctr">
            <a:spAutoFit/>
          </a:bodyPr>
          <a:lstStyle/>
          <a:p>
            <a:pPr algn="l">
              <a:spcAft>
                <a:spcPts val="400"/>
              </a:spcAft>
            </a:pPr>
            <a:r>
              <a:rPr sz="1250" b="1">
                <a:solidFill>
                  <a:srgbClr val="273238"/>
                </a:solidFill>
                <a:latin typeface="Arial"/>
              </a:rPr>
              <a:t>FCM loses spatial position: pair cell-state distributions with microscopy and endpoint surface / mineral analysis.</a:t>
            </a:r>
          </a:p>
        </p:txBody>
      </p:sp>
      <p:sp>
        <p:nvSpPr>
          <p:cNvPr id="37" name="TextBox 36"/>
          <p:cNvSpPr txBox="1"/>
          <p:nvPr/>
        </p:nvSpPr>
        <p:spPr>
          <a:xfrm>
            <a:off x="804672" y="6272784"/>
            <a:ext cx="10881360" cy="219456"/>
          </a:xfrm>
          <a:prstGeom prst="rect">
            <a:avLst/>
          </a:prstGeom>
          <a:noFill/>
        </p:spPr>
        <p:txBody>
          <a:bodyPr wrap="square" lIns="18288" rIns="18288" tIns="18288" bIns="18288" anchor="t">
            <a:spAutoFit/>
          </a:bodyPr>
          <a:lstStyle/>
          <a:p>
            <a:pPr algn="l">
              <a:spcAft>
                <a:spcPts val="400"/>
              </a:spcAft>
            </a:pPr>
            <a:r>
              <a:rPr sz="919" b="0">
                <a:solidFill>
                  <a:srgbClr val="536168"/>
                </a:solidFill>
                <a:latin typeface="Arial"/>
              </a:rPr>
              <a:t>Nano-Bio Lab research overview: https://www.nanobiolab.org/research · Model-calibration review: https://doi.org/10.1371/journal.pcbi.1010533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04672" y="713232"/>
            <a:ext cx="10789920" cy="256032"/>
          </a:xfrm>
          <a:prstGeom prst="rect">
            <a:avLst/>
          </a:prstGeom>
          <a:noFill/>
        </p:spPr>
        <p:txBody>
          <a:bodyPr wrap="square" lIns="18288" rIns="18288" tIns="18288" bIns="18288" anchor="t">
            <a:spAutoFit/>
          </a:bodyPr>
          <a:lstStyle/>
          <a:p>
            <a:pPr algn="l">
              <a:spcAft>
                <a:spcPts val="400"/>
              </a:spcAft>
            </a:pPr>
            <a:r>
              <a:rPr sz="1150" b="0">
                <a:solidFill>
                  <a:srgbClr val="A86418"/>
                </a:solidFill>
                <a:latin typeface="Arial"/>
              </a:rPr>
              <a:t>SEPARATE APPLICATIONS · SHARE THE SOFTWARE PATTERN, NOT THE PARAMETERS</a:t>
            </a:r>
          </a:p>
        </p:txBody>
      </p:sp>
      <p:sp>
        <p:nvSpPr>
          <p:cNvPr id="5" name="TextBox 4"/>
          <p:cNvSpPr txBox="1"/>
          <p:nvPr/>
        </p:nvSpPr>
        <p:spPr>
          <a:xfrm>
            <a:off x="804672" y="1115568"/>
            <a:ext cx="10881360" cy="685800"/>
          </a:xfrm>
          <a:prstGeom prst="rect">
            <a:avLst/>
          </a:prstGeom>
          <a:noFill/>
        </p:spPr>
        <p:txBody>
          <a:bodyPr wrap="square" lIns="18288" rIns="18288" tIns="18288" bIns="18288" anchor="t">
            <a:spAutoFit/>
          </a:bodyPr>
          <a:lstStyle/>
          <a:p>
            <a:pPr algn="l">
              <a:spcAft>
                <a:spcPts val="400"/>
              </a:spcAft>
            </a:pPr>
            <a:r>
              <a:rPr sz="2500" b="1">
                <a:solidFill>
                  <a:srgbClr val="273238"/>
                </a:solidFill>
                <a:latin typeface="Georgia"/>
              </a:rPr>
              <a:t>Two possible flow-cytometry branches should stay separate</a:t>
            </a:r>
          </a:p>
        </p:txBody>
      </p:sp>
      <p:sp>
        <p:nvSpPr>
          <p:cNvPr id="6" name="TextBox 5"/>
          <p:cNvSpPr txBox="1"/>
          <p:nvPr/>
        </p:nvSpPr>
        <p:spPr>
          <a:xfrm>
            <a:off x="822960" y="1810512"/>
            <a:ext cx="10789920" cy="384048"/>
          </a:xfrm>
          <a:prstGeom prst="rect">
            <a:avLst/>
          </a:prstGeom>
          <a:noFill/>
        </p:spPr>
        <p:txBody>
          <a:bodyPr wrap="square" lIns="18288" rIns="18288" tIns="18288" bIns="18288" anchor="t">
            <a:spAutoFit/>
          </a:bodyPr>
          <a:lstStyle/>
          <a:p>
            <a:pPr algn="l">
              <a:spcAft>
                <a:spcPts val="400"/>
              </a:spcAft>
            </a:pPr>
            <a:r>
              <a:rPr sz="1320" b="0">
                <a:solidFill>
                  <a:srgbClr val="536168"/>
                </a:solidFill>
                <a:latin typeface="Arial"/>
              </a:rPr>
              <a:t>The same observation-model idea can serve different biology, but the targets and calibration differ.</a:t>
            </a:r>
          </a:p>
        </p:txBody>
      </p:sp>
      <p:sp>
        <p:nvSpPr>
          <p:cNvPr id="7" name="Rounded Rectangle 6"/>
          <p:cNvSpPr/>
          <p:nvPr/>
        </p:nvSpPr>
        <p:spPr>
          <a:xfrm>
            <a:off x="804672" y="2377440"/>
            <a:ext cx="5257800" cy="2532888"/>
          </a:xfrm>
          <a:prstGeom prst="roundRect">
            <a:avLst/>
          </a:prstGeom>
          <a:solidFill>
            <a:srgbClr val="E4EDF4"/>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496312"/>
            <a:ext cx="4965192" cy="310896"/>
          </a:xfrm>
          <a:prstGeom prst="rect">
            <a:avLst/>
          </a:prstGeom>
          <a:noFill/>
        </p:spPr>
        <p:txBody>
          <a:bodyPr wrap="square" lIns="18288" rIns="18288" tIns="18288" bIns="18288" anchor="t">
            <a:spAutoFit/>
          </a:bodyPr>
          <a:lstStyle/>
          <a:p>
            <a:pPr algn="l">
              <a:spcAft>
                <a:spcPts val="400"/>
              </a:spcAft>
            </a:pPr>
            <a:r>
              <a:rPr sz="1500" b="1">
                <a:solidFill>
                  <a:srgbClr val="4A779D"/>
                </a:solidFill>
                <a:latin typeface="Arial"/>
              </a:rPr>
              <a:t>A · NANO-BIO / CELL-ASSOCIATION ASSAY</a:t>
            </a:r>
          </a:p>
        </p:txBody>
      </p:sp>
      <p:sp>
        <p:nvSpPr>
          <p:cNvPr id="9" name="TextBox 8"/>
          <p:cNvSpPr txBox="1"/>
          <p:nvPr/>
        </p:nvSpPr>
        <p:spPr>
          <a:xfrm>
            <a:off x="950976" y="2871216"/>
            <a:ext cx="4965192" cy="1938528"/>
          </a:xfrm>
          <a:prstGeom prst="rect">
            <a:avLst/>
          </a:prstGeom>
          <a:noFill/>
        </p:spPr>
        <p:txBody>
          <a:bodyPr wrap="square" lIns="18288" rIns="18288" tIns="18288" bIns="18288" anchor="t">
            <a:spAutoFit/>
          </a:bodyPr>
          <a:lstStyle/>
          <a:p>
            <a:pPr algn="l">
              <a:spcAft>
                <a:spcPts val="400"/>
              </a:spcAft>
            </a:pPr>
            <a:r>
              <a:rPr sz="1210" b="0">
                <a:solidFill>
                  <a:srgbClr val="273238"/>
                </a:solidFill>
                <a:latin typeface="Arial"/>
              </a:rPr>
              <a:t>Possible observables:</a:t>
            </a:r>
          </a:p>
          <a:p>
            <a:pPr algn="l">
              <a:spcAft>
                <a:spcPts val="400"/>
              </a:spcAft>
            </a:pPr>
            <a:r>
              <a:rPr sz="1210" b="0">
                <a:solidFill>
                  <a:srgbClr val="273238"/>
                </a:solidFill>
                <a:latin typeface="Arial"/>
              </a:rPr>
              <a:t>• percent fluorescent-positive cells</a:t>
            </a:r>
          </a:p>
          <a:p>
            <a:pPr algn="l">
              <a:spcAft>
                <a:spcPts val="400"/>
              </a:spcAft>
            </a:pPr>
            <a:r>
              <a:rPr sz="1210" b="0">
                <a:solidFill>
                  <a:srgbClr val="273238"/>
                </a:solidFill>
                <a:latin typeface="Arial"/>
              </a:rPr>
              <a:t>• per-cell fluorescence distribution</a:t>
            </a:r>
          </a:p>
          <a:p>
            <a:pPr algn="l">
              <a:spcAft>
                <a:spcPts val="400"/>
              </a:spcAft>
            </a:pPr>
            <a:r>
              <a:rPr sz="1210" b="0">
                <a:solidFill>
                  <a:srgbClr val="273238"/>
                </a:solidFill>
                <a:latin typeface="Arial"/>
              </a:rPr>
              <a:t>• validated cell-state / membrane-integrity markers</a:t>
            </a:r>
          </a:p>
          <a:p>
            <a:pPr algn="l">
              <a:spcAft>
                <a:spcPts val="400"/>
              </a:spcAft>
            </a:pPr>
            <a:r>
              <a:rPr sz="1210" b="0">
                <a:solidFill>
                  <a:srgbClr val="273238"/>
                </a:solidFill>
                <a:latin typeface="Arial"/>
              </a:rPr>
              <a:t>• scatter / morphology proxies</a:t>
            </a:r>
          </a:p>
          <a:p>
            <a:pPr algn="l">
              <a:spcAft>
                <a:spcPts val="400"/>
              </a:spcAft>
            </a:pPr>
          </a:p>
          <a:p>
            <a:pPr algn="l">
              <a:spcAft>
                <a:spcPts val="400"/>
              </a:spcAft>
            </a:pPr>
            <a:r>
              <a:rPr sz="1210" b="0">
                <a:solidFill>
                  <a:srgbClr val="273238"/>
                </a:solidFill>
                <a:latin typeface="Arial"/>
              </a:rPr>
              <a:t>Key control: distinguish surface association from internalization; cytometry alone may not localize the signal.</a:t>
            </a:r>
          </a:p>
        </p:txBody>
      </p:sp>
      <p:sp>
        <p:nvSpPr>
          <p:cNvPr id="10" name="Rounded Rectangle 9"/>
          <p:cNvSpPr/>
          <p:nvPr/>
        </p:nvSpPr>
        <p:spPr>
          <a:xfrm>
            <a:off x="6281928" y="2377440"/>
            <a:ext cx="5440680" cy="2532888"/>
          </a:xfrm>
          <a:prstGeom prst="roundRect">
            <a:avLst/>
          </a:prstGeom>
          <a:solidFill>
            <a:srgbClr val="E1EBE6"/>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2496312"/>
            <a:ext cx="5148072" cy="310896"/>
          </a:xfrm>
          <a:prstGeom prst="rect">
            <a:avLst/>
          </a:prstGeom>
          <a:noFill/>
        </p:spPr>
        <p:txBody>
          <a:bodyPr wrap="square" lIns="18288" rIns="18288" tIns="18288" bIns="18288" anchor="t">
            <a:spAutoFit/>
          </a:bodyPr>
          <a:lstStyle/>
          <a:p>
            <a:pPr algn="l">
              <a:spcAft>
                <a:spcPts val="400"/>
              </a:spcAft>
            </a:pPr>
            <a:r>
              <a:rPr sz="1500" b="1">
                <a:solidFill>
                  <a:srgbClr val="3C6D65"/>
                </a:solidFill>
                <a:latin typeface="Arial"/>
              </a:rPr>
              <a:t>B · MICROBIAL / CLAY-BIOFILM ASSAY</a:t>
            </a:r>
          </a:p>
        </p:txBody>
      </p:sp>
      <p:sp>
        <p:nvSpPr>
          <p:cNvPr id="12" name="TextBox 11"/>
          <p:cNvSpPr txBox="1"/>
          <p:nvPr/>
        </p:nvSpPr>
        <p:spPr>
          <a:xfrm>
            <a:off x="6428232" y="2871216"/>
            <a:ext cx="5148072" cy="1938528"/>
          </a:xfrm>
          <a:prstGeom prst="rect">
            <a:avLst/>
          </a:prstGeom>
          <a:noFill/>
        </p:spPr>
        <p:txBody>
          <a:bodyPr wrap="square" lIns="18288" rIns="18288" tIns="18288" bIns="18288" anchor="t">
            <a:spAutoFit/>
          </a:bodyPr>
          <a:lstStyle/>
          <a:p>
            <a:pPr algn="l">
              <a:spcAft>
                <a:spcPts val="400"/>
              </a:spcAft>
            </a:pPr>
            <a:r>
              <a:rPr sz="1210" b="0">
                <a:solidFill>
                  <a:srgbClr val="273238"/>
                </a:solidFill>
                <a:latin typeface="Arial"/>
              </a:rPr>
              <a:t>Possible observables:</a:t>
            </a:r>
          </a:p>
          <a:p>
            <a:pPr algn="l">
              <a:spcAft>
                <a:spcPts val="400"/>
              </a:spcAft>
            </a:pPr>
            <a:r>
              <a:rPr sz="1210" b="0">
                <a:solidFill>
                  <a:srgbClr val="273238"/>
                </a:solidFill>
                <a:latin typeface="Arial"/>
              </a:rPr>
              <a:t>• absolute gated-cell concentration</a:t>
            </a:r>
          </a:p>
          <a:p>
            <a:pPr algn="l">
              <a:spcAft>
                <a:spcPts val="400"/>
              </a:spcAft>
            </a:pPr>
            <a:r>
              <a:rPr sz="1210" b="0">
                <a:solidFill>
                  <a:srgbClr val="273238"/>
                </a:solidFill>
                <a:latin typeface="Arial"/>
              </a:rPr>
              <a:t>• membrane-integrity state fractions</a:t>
            </a:r>
          </a:p>
          <a:p>
            <a:pPr algn="l">
              <a:spcAft>
                <a:spcPts val="400"/>
              </a:spcAft>
            </a:pPr>
            <a:r>
              <a:rPr sz="1210" b="0">
                <a:solidFill>
                  <a:srgbClr val="273238"/>
                </a:solidFill>
                <a:latin typeface="Arial"/>
              </a:rPr>
              <a:t>• detached vs planktonic sample differences</a:t>
            </a:r>
          </a:p>
          <a:p>
            <a:pPr algn="l">
              <a:spcAft>
                <a:spcPts val="400"/>
              </a:spcAft>
            </a:pPr>
            <a:r>
              <a:rPr sz="1210" b="0">
                <a:solidFill>
                  <a:srgbClr val="273238"/>
                </a:solidFill>
                <a:latin typeface="Arial"/>
              </a:rPr>
              <a:t>• optional validated metabolic panel</a:t>
            </a:r>
          </a:p>
          <a:p>
            <a:pPr algn="l">
              <a:spcAft>
                <a:spcPts val="400"/>
              </a:spcAft>
            </a:pPr>
          </a:p>
          <a:p>
            <a:pPr algn="l">
              <a:spcAft>
                <a:spcPts val="400"/>
              </a:spcAft>
            </a:pPr>
            <a:r>
              <a:rPr sz="1210" b="0">
                <a:solidFill>
                  <a:srgbClr val="273238"/>
                </a:solidFill>
                <a:latin typeface="Arial"/>
              </a:rPr>
              <a:t>Key control: clay-only blanks, disaggregation recovery, staining controls and oxygen-safe sampling.</a:t>
            </a:r>
          </a:p>
        </p:txBody>
      </p:sp>
      <p:sp>
        <p:nvSpPr>
          <p:cNvPr id="13" name="Rounded Rectangle 12"/>
          <p:cNvSpPr/>
          <p:nvPr/>
        </p:nvSpPr>
        <p:spPr>
          <a:xfrm>
            <a:off x="804672" y="5184648"/>
            <a:ext cx="10917936" cy="630936"/>
          </a:xfrm>
          <a:prstGeom prst="roundRect">
            <a:avLst/>
          </a:prstGeom>
          <a:solidFill>
            <a:srgbClr val="F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5303520"/>
            <a:ext cx="10561320" cy="420624"/>
          </a:xfrm>
          <a:prstGeom prst="rect">
            <a:avLst/>
          </a:prstGeom>
          <a:noFill/>
        </p:spPr>
        <p:txBody>
          <a:bodyPr wrap="square" lIns="18288" rIns="18288" tIns="18288" bIns="18288" anchor="ctr">
            <a:spAutoFit/>
          </a:bodyPr>
          <a:lstStyle/>
          <a:p>
            <a:pPr algn="l">
              <a:spcAft>
                <a:spcPts val="400"/>
              </a:spcAft>
            </a:pPr>
            <a:r>
              <a:rPr sz="1250" b="1">
                <a:solidFill>
                  <a:srgbClr val="273238"/>
                </a:solidFill>
                <a:latin typeface="Arial"/>
              </a:rPr>
              <a:t>Do not merge the hypotheses: a nanocarrier uptake model is not the clay–corrosion model. Re-estimate chemistry, kinetics, gates and parameters for each system.</a:t>
            </a:r>
          </a:p>
        </p:txBody>
      </p:sp>
      <p:sp>
        <p:nvSpPr>
          <p:cNvPr id="15" name="TextBox 14"/>
          <p:cNvSpPr txBox="1"/>
          <p:nvPr/>
        </p:nvSpPr>
        <p:spPr>
          <a:xfrm>
            <a:off x="804672" y="6272784"/>
            <a:ext cx="10881360" cy="219456"/>
          </a:xfrm>
          <a:prstGeom prst="rect">
            <a:avLst/>
          </a:prstGeom>
          <a:noFill/>
        </p:spPr>
        <p:txBody>
          <a:bodyPr wrap="square" lIns="18288" rIns="18288" tIns="18288" bIns="18288" anchor="t">
            <a:spAutoFit/>
          </a:bodyPr>
          <a:lstStyle/>
          <a:p>
            <a:pPr algn="l">
              <a:spcAft>
                <a:spcPts val="400"/>
              </a:spcAft>
            </a:pPr>
            <a:r>
              <a:rPr sz="919" b="0">
                <a:solidFill>
                  <a:srgbClr val="536168"/>
                </a:solidFill>
                <a:latin typeface="Arial"/>
              </a:rPr>
              <a:t>Flow-cytometric biofilm methods: Kerstens et al. (2015), https://doi.org/10.1007/s12223-015-0400-4; Grainha et al. (2020), https://doi.org/10.3390/antibiotics9110741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04672" y="713232"/>
            <a:ext cx="10789920" cy="256032"/>
          </a:xfrm>
          <a:prstGeom prst="rect">
            <a:avLst/>
          </a:prstGeom>
          <a:noFill/>
        </p:spPr>
        <p:txBody>
          <a:bodyPr wrap="square" lIns="18288" rIns="18288" tIns="18288" bIns="18288" anchor="t">
            <a:spAutoFit/>
          </a:bodyPr>
          <a:lstStyle/>
          <a:p>
            <a:pPr algn="l">
              <a:spcAft>
                <a:spcPts val="400"/>
              </a:spcAft>
            </a:pPr>
            <a:r>
              <a:rPr sz="1150" b="0">
                <a:solidFill>
                  <a:srgbClr val="A86418"/>
                </a:solidFill>
                <a:latin typeface="Arial"/>
              </a:rPr>
              <a:t>SMALLEST FALSIFIABLE WORKFLOW · DISCUSSION DRAFT</a:t>
            </a:r>
          </a:p>
        </p:txBody>
      </p:sp>
      <p:sp>
        <p:nvSpPr>
          <p:cNvPr id="5" name="TextBox 4"/>
          <p:cNvSpPr txBox="1"/>
          <p:nvPr/>
        </p:nvSpPr>
        <p:spPr>
          <a:xfrm>
            <a:off x="804672" y="1115568"/>
            <a:ext cx="10881360" cy="685800"/>
          </a:xfrm>
          <a:prstGeom prst="rect">
            <a:avLst/>
          </a:prstGeom>
          <a:noFill/>
        </p:spPr>
        <p:txBody>
          <a:bodyPr wrap="square" lIns="18288" rIns="18288" tIns="18288" bIns="18288" anchor="t">
            <a:spAutoFit/>
          </a:bodyPr>
          <a:lstStyle/>
          <a:p>
            <a:pPr algn="l">
              <a:spcAft>
                <a:spcPts val="400"/>
              </a:spcAft>
            </a:pPr>
            <a:r>
              <a:rPr sz="2500" b="1">
                <a:solidFill>
                  <a:srgbClr val="273238"/>
                </a:solidFill>
                <a:latin typeface="Georgia"/>
              </a:rPr>
              <a:t>Make the cytometry link testable before fitting the model</a:t>
            </a:r>
          </a:p>
        </p:txBody>
      </p:sp>
      <p:sp>
        <p:nvSpPr>
          <p:cNvPr id="6" name="TextBox 5"/>
          <p:cNvSpPr txBox="1"/>
          <p:nvPr/>
        </p:nvSpPr>
        <p:spPr>
          <a:xfrm>
            <a:off x="822960" y="1810512"/>
            <a:ext cx="10789920" cy="384048"/>
          </a:xfrm>
          <a:prstGeom prst="rect">
            <a:avLst/>
          </a:prstGeom>
          <a:noFill/>
        </p:spPr>
        <p:txBody>
          <a:bodyPr wrap="square" lIns="18288" rIns="18288" tIns="18288" bIns="18288" anchor="t">
            <a:spAutoFit/>
          </a:bodyPr>
          <a:lstStyle/>
          <a:p>
            <a:pPr algn="l">
              <a:spcAft>
                <a:spcPts val="400"/>
              </a:spcAft>
            </a:pPr>
            <a:r>
              <a:rPr sz="1320" b="0">
                <a:solidFill>
                  <a:srgbClr val="536168"/>
                </a:solidFill>
                <a:latin typeface="Arial"/>
              </a:rPr>
              <a:t>The goal is to distinguish mechanisms, not to make a visual match look like a validated prediction.</a:t>
            </a:r>
          </a:p>
        </p:txBody>
      </p:sp>
      <p:sp>
        <p:nvSpPr>
          <p:cNvPr id="7" name="Rounded Rectangle 6"/>
          <p:cNvSpPr/>
          <p:nvPr/>
        </p:nvSpPr>
        <p:spPr>
          <a:xfrm>
            <a:off x="804672" y="2331720"/>
            <a:ext cx="5166360" cy="1152144"/>
          </a:xfrm>
          <a:prstGeom prst="roundRect">
            <a:avLst/>
          </a:prstGeom>
          <a:solidFill>
            <a:srgbClr val="E5E4DF"/>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450591"/>
            <a:ext cx="4873752" cy="310896"/>
          </a:xfrm>
          <a:prstGeom prst="rect">
            <a:avLst/>
          </a:prstGeom>
          <a:noFill/>
        </p:spPr>
        <p:txBody>
          <a:bodyPr wrap="square" lIns="18288" rIns="18288" tIns="18288" bIns="18288" anchor="t">
            <a:spAutoFit/>
          </a:bodyPr>
          <a:lstStyle/>
          <a:p>
            <a:pPr algn="l">
              <a:spcAft>
                <a:spcPts val="400"/>
              </a:spcAft>
            </a:pPr>
            <a:r>
              <a:rPr sz="1400" b="1">
                <a:solidFill>
                  <a:srgbClr val="536168"/>
                </a:solidFill>
                <a:latin typeface="Arial"/>
              </a:rPr>
              <a:t>1 · PREDECLARE</a:t>
            </a:r>
          </a:p>
        </p:txBody>
      </p:sp>
      <p:sp>
        <p:nvSpPr>
          <p:cNvPr id="9" name="TextBox 8"/>
          <p:cNvSpPr txBox="1"/>
          <p:nvPr/>
        </p:nvSpPr>
        <p:spPr>
          <a:xfrm>
            <a:off x="950976" y="2825496"/>
            <a:ext cx="4873752" cy="557784"/>
          </a:xfrm>
          <a:prstGeom prst="rect">
            <a:avLst/>
          </a:prstGeom>
          <a:noFill/>
        </p:spPr>
        <p:txBody>
          <a:bodyPr wrap="square" lIns="18288" rIns="18288" tIns="18288" bIns="18288" anchor="t">
            <a:spAutoFit/>
          </a:bodyPr>
          <a:lstStyle/>
          <a:p>
            <a:pPr algn="l">
              <a:spcAft>
                <a:spcPts val="400"/>
              </a:spcAft>
            </a:pPr>
            <a:r>
              <a:rPr sz="1150" b="0">
                <a:solidFill>
                  <a:srgbClr val="273238"/>
                </a:solidFill>
                <a:latin typeface="Arial"/>
              </a:rPr>
              <a:t>Sample origin, time points, stains, gates, instrument settings, primary summaries and exclusion rules.</a:t>
            </a:r>
          </a:p>
        </p:txBody>
      </p:sp>
      <p:sp>
        <p:nvSpPr>
          <p:cNvPr id="10" name="Rounded Rectangle 9"/>
          <p:cNvSpPr/>
          <p:nvPr/>
        </p:nvSpPr>
        <p:spPr>
          <a:xfrm>
            <a:off x="6291072" y="2331720"/>
            <a:ext cx="5166360" cy="1152144"/>
          </a:xfrm>
          <a:prstGeom prst="roundRect">
            <a:avLst/>
          </a:prstGeom>
          <a:solidFill>
            <a:srgbClr val="E4EDF4"/>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450591"/>
            <a:ext cx="4873752" cy="310896"/>
          </a:xfrm>
          <a:prstGeom prst="rect">
            <a:avLst/>
          </a:prstGeom>
          <a:noFill/>
        </p:spPr>
        <p:txBody>
          <a:bodyPr wrap="square" lIns="18288" rIns="18288" tIns="18288" bIns="18288" anchor="t">
            <a:spAutoFit/>
          </a:bodyPr>
          <a:lstStyle/>
          <a:p>
            <a:pPr algn="l">
              <a:spcAft>
                <a:spcPts val="400"/>
              </a:spcAft>
            </a:pPr>
            <a:r>
              <a:rPr sz="1400" b="1">
                <a:solidFill>
                  <a:srgbClr val="4A779D"/>
                </a:solidFill>
                <a:latin typeface="Arial"/>
              </a:rPr>
              <a:t>2 · CALIBRATE</a:t>
            </a:r>
          </a:p>
        </p:txBody>
      </p:sp>
      <p:sp>
        <p:nvSpPr>
          <p:cNvPr id="12" name="TextBox 11"/>
          <p:cNvSpPr txBox="1"/>
          <p:nvPr/>
        </p:nvSpPr>
        <p:spPr>
          <a:xfrm>
            <a:off x="6437376" y="2825496"/>
            <a:ext cx="4873752" cy="557784"/>
          </a:xfrm>
          <a:prstGeom prst="rect">
            <a:avLst/>
          </a:prstGeom>
          <a:noFill/>
        </p:spPr>
        <p:txBody>
          <a:bodyPr wrap="square" lIns="18288" rIns="18288" tIns="18288" bIns="18288" anchor="t">
            <a:spAutoFit/>
          </a:bodyPr>
          <a:lstStyle/>
          <a:p>
            <a:pPr algn="l">
              <a:spcAft>
                <a:spcPts val="400"/>
              </a:spcAft>
            </a:pPr>
            <a:r>
              <a:rPr sz="1150" b="0">
                <a:solidFill>
                  <a:srgbClr val="273238"/>
                </a:solidFill>
                <a:latin typeface="Arial"/>
              </a:rPr>
              <a:t>Unstained / stain-only, single-stain or compensation controls, live-like / dead-like controls, blank matrix and counting beads.</a:t>
            </a:r>
          </a:p>
        </p:txBody>
      </p:sp>
      <p:sp>
        <p:nvSpPr>
          <p:cNvPr id="13" name="Rounded Rectangle 12"/>
          <p:cNvSpPr/>
          <p:nvPr/>
        </p:nvSpPr>
        <p:spPr>
          <a:xfrm>
            <a:off x="804672" y="3721608"/>
            <a:ext cx="5166360" cy="1152144"/>
          </a:xfrm>
          <a:prstGeom prst="roundRect">
            <a:avLst/>
          </a:prstGeom>
          <a:solidFill>
            <a:srgbClr val="E1EBE6"/>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3840480"/>
            <a:ext cx="4873752" cy="310896"/>
          </a:xfrm>
          <a:prstGeom prst="rect">
            <a:avLst/>
          </a:prstGeom>
          <a:noFill/>
        </p:spPr>
        <p:txBody>
          <a:bodyPr wrap="square" lIns="18288" rIns="18288" tIns="18288" bIns="18288" anchor="t">
            <a:spAutoFit/>
          </a:bodyPr>
          <a:lstStyle/>
          <a:p>
            <a:pPr algn="l">
              <a:spcAft>
                <a:spcPts val="400"/>
              </a:spcAft>
            </a:pPr>
            <a:r>
              <a:rPr sz="1400" b="1">
                <a:solidFill>
                  <a:srgbClr val="3C6D65"/>
                </a:solidFill>
                <a:latin typeface="Arial"/>
              </a:rPr>
              <a:t>3 · MATCH THE STATE</a:t>
            </a:r>
          </a:p>
        </p:txBody>
      </p:sp>
      <p:sp>
        <p:nvSpPr>
          <p:cNvPr id="15" name="TextBox 14"/>
          <p:cNvSpPr txBox="1"/>
          <p:nvPr/>
        </p:nvSpPr>
        <p:spPr>
          <a:xfrm>
            <a:off x="950976" y="4215384"/>
            <a:ext cx="4873752" cy="557784"/>
          </a:xfrm>
          <a:prstGeom prst="rect">
            <a:avLst/>
          </a:prstGeom>
          <a:noFill/>
        </p:spPr>
        <p:txBody>
          <a:bodyPr wrap="square" lIns="18288" rIns="18288" tIns="18288" bIns="18288" anchor="t">
            <a:spAutoFit/>
          </a:bodyPr>
          <a:lstStyle/>
          <a:p>
            <a:pPr algn="l">
              <a:spcAft>
                <a:spcPts val="400"/>
              </a:spcAft>
            </a:pPr>
            <a:r>
              <a:rPr sz="1150" b="0">
                <a:solidFill>
                  <a:srgbClr val="273238"/>
                </a:solidFill>
                <a:latin typeface="Arial"/>
              </a:rPr>
              <a:t>Map each sample to effluent, planktonic or detached-biofilm model state. Record extraction recovery and dilution.</a:t>
            </a:r>
          </a:p>
        </p:txBody>
      </p:sp>
      <p:sp>
        <p:nvSpPr>
          <p:cNvPr id="16" name="Rounded Rectangle 15"/>
          <p:cNvSpPr/>
          <p:nvPr/>
        </p:nvSpPr>
        <p:spPr>
          <a:xfrm>
            <a:off x="6291072" y="3721608"/>
            <a:ext cx="5166360" cy="1152144"/>
          </a:xfrm>
          <a:prstGeom prst="roundRect">
            <a:avLst/>
          </a:prstGeom>
          <a:solidFill>
            <a:srgbClr val="F5E5C5"/>
          </a:solidFill>
          <a:ln w="10160">
            <a:solidFill>
              <a:srgbClr val="D4D2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840480"/>
            <a:ext cx="4873752" cy="310896"/>
          </a:xfrm>
          <a:prstGeom prst="rect">
            <a:avLst/>
          </a:prstGeom>
          <a:noFill/>
        </p:spPr>
        <p:txBody>
          <a:bodyPr wrap="square" lIns="18288" rIns="18288" tIns="18288" bIns="18288" anchor="t">
            <a:spAutoFit/>
          </a:bodyPr>
          <a:lstStyle/>
          <a:p>
            <a:pPr algn="l">
              <a:spcAft>
                <a:spcPts val="400"/>
              </a:spcAft>
            </a:pPr>
            <a:r>
              <a:rPr sz="1400" b="1">
                <a:solidFill>
                  <a:srgbClr val="A86418"/>
                </a:solidFill>
                <a:latin typeface="Arial"/>
              </a:rPr>
              <a:t>4 · TEST PREDICTION</a:t>
            </a:r>
          </a:p>
        </p:txBody>
      </p:sp>
      <p:sp>
        <p:nvSpPr>
          <p:cNvPr id="18" name="TextBox 17"/>
          <p:cNvSpPr txBox="1"/>
          <p:nvPr/>
        </p:nvSpPr>
        <p:spPr>
          <a:xfrm>
            <a:off x="6437376" y="4215384"/>
            <a:ext cx="4873752" cy="557784"/>
          </a:xfrm>
          <a:prstGeom prst="rect">
            <a:avLst/>
          </a:prstGeom>
          <a:noFill/>
        </p:spPr>
        <p:txBody>
          <a:bodyPr wrap="square" lIns="18288" rIns="18288" tIns="18288" bIns="18288" anchor="t">
            <a:spAutoFit/>
          </a:bodyPr>
          <a:lstStyle/>
          <a:p>
            <a:pPr algn="l">
              <a:spcAft>
                <a:spcPts val="400"/>
              </a:spcAft>
            </a:pPr>
            <a:r>
              <a:rPr sz="1150" b="0">
                <a:solidFill>
                  <a:srgbClr val="273238"/>
                </a:solidFill>
                <a:latin typeface="Arial"/>
              </a:rPr>
              <a:t>Fit on designated observations; check posterior predictive distributions or held-out time points. Report non-identifiable alternatives.</a:t>
            </a:r>
          </a:p>
        </p:txBody>
      </p:sp>
      <p:sp>
        <p:nvSpPr>
          <p:cNvPr id="19" name="Rounded Rectangle 18"/>
          <p:cNvSpPr/>
          <p:nvPr/>
        </p:nvSpPr>
        <p:spPr>
          <a:xfrm>
            <a:off x="804672" y="5303520"/>
            <a:ext cx="10917936" cy="512064"/>
          </a:xfrm>
          <a:prstGeom prst="roundRect">
            <a:avLst/>
          </a:prstGeom>
          <a:solidFill>
            <a:srgbClr val="F3E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5394960"/>
            <a:ext cx="10561320" cy="347472"/>
          </a:xfrm>
          <a:prstGeom prst="rect">
            <a:avLst/>
          </a:prstGeom>
          <a:noFill/>
        </p:spPr>
        <p:txBody>
          <a:bodyPr wrap="square" lIns="18288" rIns="18288" tIns="18288" bIns="18288" anchor="ctr">
            <a:spAutoFit/>
          </a:bodyPr>
          <a:lstStyle/>
          <a:p>
            <a:pPr algn="l">
              <a:spcAft>
                <a:spcPts val="400"/>
              </a:spcAft>
            </a:pPr>
            <a:r>
              <a:rPr sz="1190" b="1">
                <a:solidFill>
                  <a:srgbClr val="273238"/>
                </a:solidFill>
                <a:latin typeface="Arial"/>
              </a:rPr>
              <a:t>Falsifier: if predicted cell-state distributions do not track the measurements under the predeclared calibration, revise or reject the state model; do not tune gates after seeing the desired result.</a:t>
            </a:r>
          </a:p>
        </p:txBody>
      </p:sp>
      <p:sp>
        <p:nvSpPr>
          <p:cNvPr id="21" name="TextBox 20"/>
          <p:cNvSpPr txBox="1"/>
          <p:nvPr/>
        </p:nvSpPr>
        <p:spPr>
          <a:xfrm>
            <a:off x="804672" y="6272784"/>
            <a:ext cx="10881360" cy="219456"/>
          </a:xfrm>
          <a:prstGeom prst="rect">
            <a:avLst/>
          </a:prstGeom>
          <a:noFill/>
        </p:spPr>
        <p:txBody>
          <a:bodyPr wrap="square" lIns="18288" rIns="18288" tIns="18288" bIns="18288" anchor="t">
            <a:spAutoFit/>
          </a:bodyPr>
          <a:lstStyle/>
          <a:p>
            <a:pPr algn="l">
              <a:spcAft>
                <a:spcPts val="400"/>
              </a:spcAft>
            </a:pPr>
            <a:r>
              <a:rPr sz="919" b="0">
                <a:solidFill>
                  <a:srgbClr val="536168"/>
                </a:solidFill>
                <a:latin typeface="Arial"/>
              </a:rPr>
              <a:t>Assay cautions: Kerstens et al. (2015); Grainha et al. (2020). Calibration concepts: Yip et al.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pic>
        <p:nvPicPr>
          <p:cNvPr id="2" name="SlideRender" descr="High-resolution domain visualization slide"/>
          <p:cNvPicPr>
            <a:picLocks noChangeAspect="1"/>
          </p:cNvPicPr>
          <p:nvPr/>
        </p:nvPicPr>
        <p:blipFill>
          <a:blip r:embed="rId3"/>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