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3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3" r:id="rId9"/>
    <p:sldId id="268" r:id="rId14"/>
    <p:sldId id="276" r:id="rId27"/>
    <p:sldId id="270" r:id="rId16"/>
    <p:sldId id="271" r:id="rId17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this as a questions-first conversation, not a proposal. Everything here is from public literature or my own clearly labelled models. No radioactivity, no employer facilities or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these first and let the answers steer the rest. It is fine to skip most of the deck if the conversation goes somewhere better.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redrew the clay schematic so there is no question about the source. The diagram I had earlier has unknown provenance, so I am not showing it. Real samples are interstratified: Ca-SWy at 20% RH is roughly 45% 2W, 40% 1W, 15% 0W.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sharpest version of the slide 7 gap. Ask Ellen directly whether her lab could tell these apart, and what measurement she would trust.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plainly that this pilot is a feasibility test. Finding the density threshold needs the longer study on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this early if it comes up naturally; it answers the question before anyone has to ask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here if the conversation is going well. The references and appendix are backup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OPTIONAL APPENDIX SLIDE. Flow cytometry is an observation layer, not a fluid or geochemical solver. It generally requires cell suspensions. For attached biofilm/clay, validate detachment and recovery and report extraction protocol. Kerstens et al. (2015) demonstrated a flow-cytometric biofilm quantification workflow in E. coli and C. albicans; do not transfer its staining interpretation automatically to a sulfate-reducing strain. Grainha et al. (2020) document difficulties caused by strain, morphology and matrix effects in mixed biofilms. Use clay-only, unstained, stain-only, positive/negative viability, counting-bead and spike-recovery controls. Do not interpret this as proof that flow cytometry directly measures EPS cross-links or spatial location. Maximum pit depth remains the primary corrosion endpoint.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280159"/>
            <a:ext cx="10566400" cy="726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2600" dirty="0">
                <a:solidFill>
                  <a:srgbClr val="1F2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2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2311399"/>
            <a:ext cx="10566400" cy="3733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F2A2E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280159"/>
            <a:ext cx="10566400" cy="726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2600" dirty="0">
                <a:solidFill>
                  <a:srgbClr val="1F2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2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2311399"/>
            <a:ext cx="10566400" cy="3733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F2A2E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tacked clay layers motif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518400" y="1905000"/>
            <a:ext cx="4064000" cy="266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8128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spc="150" kern="0" dirty="0">
                <a:solidFill>
                  <a:srgbClr val="D9A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EXPLORATORY MEETING · ELLEN WAN &amp; ANDREW HOFFMAN</a:t>
            </a:r>
            <a:endParaRPr lang="en-US" sz="14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812800" y="2224405"/>
            <a:ext cx="6802120" cy="1305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800" b="1" i="0" dirty="0">
                <a:solidFill>
                  <a:srgbClr val="F3F1E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Clay, microbes and metal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812800" y="3707765"/>
            <a:ext cx="6802120" cy="951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BFD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clay hydration and iron chemistry gate microbially influenced corrosion, and whether a small BSL-1 pilot is a shared question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812800" y="579628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FD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Hunter Kinder · independent researcher · October 2026</a:t>
            </a:r>
            <a:endParaRPr lang="en-US" sz="1400" dirty="0"/>
          </a:p>
        </p:txBody>
      </p:sp>
      <p:sp>
        <p:nvSpPr>
          <p:cNvPr id="7" name="TextBox 6"/>
          <p:cNvSpPr txBox="1"/>
          <p:nvPr/>
        </p:nvSpPr>
        <p:spPr>
          <a:xfrm>
            <a:off x="804672" y="5349240"/>
            <a:ext cx="105156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A86418"/>
                </a:solidFill>
                <a:latin typeface="Arial"/>
              </a:rPr>
              <a:t>FRAMING BRIDGE: Connecting the October 26 pool-water coupon concept with the compacted clay-EPS-metal interface as a complementary option, not a unilateral replacement.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8A5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HERE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80160"/>
            <a:ext cx="10883392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F2A2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Three questions decide whether this is a fit for us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15975" y="1900555"/>
            <a:ext cx="3380317" cy="3938270"/>
          </a:xfrm>
          <a:prstGeom prst="roundRect">
            <a:avLst>
              <a:gd name="adj" fmla="val 2912"/>
            </a:avLst>
          </a:prstGeom>
          <a:solidFill>
            <a:srgbClr val="FFFFFF"/>
          </a:solidFill>
          <a:ln w="6350">
            <a:solidFill>
              <a:srgbClr val="DAD5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3150" y="2157730"/>
            <a:ext cx="2951946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dirty="0">
                <a:solidFill>
                  <a:srgbClr val="2F6B66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73150" y="2782570"/>
            <a:ext cx="2951946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F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Ellen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73150" y="3153410"/>
            <a:ext cx="2951946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a clay-EPS-metal interface study a fit for your biofilm and EPS work, and with which BSL-1 strains?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05842" y="1900555"/>
            <a:ext cx="3380317" cy="3938270"/>
          </a:xfrm>
          <a:prstGeom prst="roundRect">
            <a:avLst>
              <a:gd name="adj" fmla="val 2912"/>
            </a:avLst>
          </a:prstGeom>
          <a:solidFill>
            <a:srgbClr val="FFFFFF"/>
          </a:solidFill>
          <a:ln w="6350">
            <a:solidFill>
              <a:srgbClr val="DAD5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017" y="2157730"/>
            <a:ext cx="2951946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dirty="0">
                <a:solidFill>
                  <a:srgbClr val="2F6B66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663017" y="2782570"/>
            <a:ext cx="2951946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F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Andrew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63017" y="3153410"/>
            <a:ext cx="2951946" cy="102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corrosion-product signatures (FeS, Fe₃O₄, Cu₂S) would you trust from Raman, SEM/EDS and XRD after 2-4 weeks?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995708" y="1900555"/>
            <a:ext cx="3380317" cy="3938270"/>
          </a:xfrm>
          <a:prstGeom prst="roundRect">
            <a:avLst>
              <a:gd name="adj" fmla="val 2912"/>
            </a:avLst>
          </a:prstGeom>
          <a:solidFill>
            <a:srgbClr val="FFFFFF"/>
          </a:solidFill>
          <a:ln w="6350">
            <a:solidFill>
              <a:srgbClr val="DAD5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52883" y="2157730"/>
            <a:ext cx="2951946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dirty="0">
                <a:solidFill>
                  <a:srgbClr val="2F6B66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8252883" y="2782570"/>
            <a:ext cx="2951946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F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both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52883" y="3153410"/>
            <a:ext cx="2951946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smallest result that would justify a 3-6 month study, and what would make you say no?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8A5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 · MEASURED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80161"/>
            <a:ext cx="10883392" cy="75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F2A2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Montmorillonite takes up water in discrete steps, and the cation sets which step</a:t>
            </a:r>
            <a:endParaRPr lang="en-US" sz="2600" dirty="0"/>
          </a:p>
        </p:txBody>
      </p:sp>
      <p:pic>
        <p:nvPicPr>
          <p:cNvPr id="4" name="Image 0" descr="Schematic of three clay layers with hydrated interlayers and the d001 spacing marked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2590800"/>
            <a:ext cx="4445000" cy="2921000"/>
          </a:xfrm>
          <a:prstGeom prst="rect">
            <a:avLst/>
          </a:prstGeom>
        </p:spPr>
      </p:pic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26100" y="2642870"/>
          <a:ext cx="5753100" cy="1930400"/>
        </p:xfrm>
        <a:graphic>
          <a:graphicData uri="http://schemas.openxmlformats.org/drawingml/2006/table">
            <a:tbl>
              <a:tblPr/>
              <a:tblGrid>
                <a:gridCol w="2301240"/>
                <a:gridCol w="3451860"/>
              </a:tblGrid>
              <a:tr h="38608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D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d001 spacing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DE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Dry (0W)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≈10.0 Å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water layer (1W)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≈12.6 Å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Two layers (2W)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≈15.2-15.3 Å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Three layers (3W, Na)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≈18-19.5 Å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5613400" y="4725670"/>
            <a:ext cx="5938774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40% RH, Na-montmorillonite sits near 12.5 Å (1W) and Ca-montmorillonite near 15.2 Å (2W). Only Na clays go on to osmotic swelling.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812800" y="6024880"/>
            <a:ext cx="10883392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Ferrage et al. 2005a, Am. Mineral. 90:1358-1374; 2005b, Clays Clay Miner. 53:348-360. Schematic redrawn for this deck (green: silicate sheets; ochre: octahedral sheet; blue: cations and water). Bracket marks d001.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8A5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QUESTION I WOULD MOST LIKE YOUR VIEW ON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54761"/>
            <a:ext cx="10883392" cy="75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F2A2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Screening, chelation and bridging are three different things, and only one changes connectivity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2222500"/>
          <a:ext cx="10553700" cy="2211070"/>
        </p:xfrm>
        <a:graphic>
          <a:graphicData uri="http://schemas.openxmlformats.org/drawingml/2006/table">
            <a:tbl>
              <a:tblPr/>
              <a:tblGrid>
                <a:gridCol w="2743962"/>
                <a:gridCol w="4221480"/>
                <a:gridCol w="3588258"/>
              </a:tblGrid>
              <a:tr h="372745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D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the cation does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D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would show it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DE"/>
                    </a:solidFill>
                  </a:tcPr>
                </a:tc>
              </a:tr>
              <a:tr h="612775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Charge screening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Reduces repulsion between charged groups; links nothing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Surface potential shifts with ionic strength alone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2775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Chelation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ligand grips one ion at several points; still one chain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Coordination geometry, not network change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2775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Bridging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ion joins two separate chains, or a chain to a clay face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Rheology or retention changes beyond the ionic-strength effect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4662171"/>
            <a:ext cx="10883392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Denticity is not the same as connectivity: a monodentate contact can still be part of a bridge if the ion coordinates something else elsewhere. The clean contrast is a monovalent control against Ca²⁺ at matched ionic strength and pH.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Terminology after IUPAC Gold Book C01012 (chelation). A drop in surface potential alone would not establish cross-linking.</a:t>
            </a:r>
            <a:endParaRPr lang="en-US" sz="1200" dirty="0"/>
          </a:p>
        </p:txBody>
      </p:sp>
      <p:sp>
        <p:nvSpPr>
          <p:cNvPr id="7" name="TextBox 6"/>
          <p:cNvSpPr txBox="1"/>
          <p:nvPr/>
        </p:nvSpPr>
        <p:spPr>
          <a:xfrm>
            <a:off x="804672" y="5897880"/>
            <a:ext cx="1051560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80" b="1" i="0">
                <a:solidFill>
                  <a:srgbClr val="A86418"/>
                </a:solidFill>
                <a:latin typeface="Arial"/>
              </a:rPr>
              <a:t>EQUIFINALITY NOTE: Distinct causal pathways (microbial sulfide, abiotic redox, clay transport) can produce similar corroded coupon endpoints, requiring discriminating controls. Biofilms and abiotic mineral compartments are comparable spatially structured reaction-diffusion systems; biofilms themselves are biological.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259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2"/>
              </a:lnSpc>
              <a:buNone/>
            </a:pPr>
            <a:r>
              <a:rPr lang="en-US" sz="1159" spc="100" kern="0" dirty="0">
                <a:solidFill>
                  <a:srgbClr val="8A5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· NOT YET RUN</a:t>
            </a:r>
            <a:endParaRPr lang="en-US" sz="1159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41952"/>
            <a:ext cx="10883392" cy="7083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8"/>
              </a:lnSpc>
              <a:buNone/>
            </a:pPr>
            <a:r>
              <a:rPr lang="en-US" sz="2462" b="1" i="0" dirty="0">
                <a:solidFill>
                  <a:srgbClr val="1F2A2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A 2-4 week pilot can show biotic versus abiotic, but not thresholds</a:t>
            </a:r>
            <a:endParaRPr lang="en-US" sz="2462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2166200"/>
          <a:ext cx="10553700" cy="1977813"/>
        </p:xfrm>
        <a:graphic>
          <a:graphicData uri="http://schemas.openxmlformats.org/drawingml/2006/table">
            <a:tbl>
              <a:tblPr/>
              <a:tblGrid>
                <a:gridCol w="2743962"/>
                <a:gridCol w="4221480"/>
                <a:gridCol w="3588258"/>
              </a:tblGrid>
              <a:tr h="350626">
                <a:tc>
                  <a:txBody>
                    <a:bodyPr/>
                    <a:lstStyle/>
                    <a:p>
                      <a:pPr indent="0" marL="0">
                        <a:lnSpc>
                          <a:spcPts val="1772"/>
                        </a:lnSpc>
                        <a:buNone/>
                      </a:pPr>
                      <a:r>
                        <a:rPr lang="en-US" sz="1266" b="1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Arm</a:t>
                      </a:r>
                      <a:endParaRPr lang="en-US" sz="1266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6257" marR="56257" marT="56257" marB="56257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D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72"/>
                        </a:lnSpc>
                        <a:buNone/>
                      </a:pPr>
                      <a:r>
                        <a:rPr lang="en-US" sz="1266" b="1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Condition</a:t>
                      </a:r>
                      <a:endParaRPr lang="en-US" sz="1266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6257" marR="56257" marT="56257" marB="56257" anchor="t">
                    <a:lnL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D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72"/>
                        </a:lnSpc>
                        <a:buNone/>
                      </a:pPr>
                      <a:r>
                        <a:rPr lang="en-US" sz="1266" b="1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it answers</a:t>
                      </a:r>
                      <a:endParaRPr lang="en-US" sz="1266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6257" marR="56257" marT="56257" marB="56257" anchor="t">
                    <a:lnL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DE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indent="0" marL="0">
                        <a:lnSpc>
                          <a:spcPts val="1772"/>
                        </a:lnSpc>
                        <a:buNone/>
                      </a:pPr>
                      <a:r>
                        <a:rPr lang="en-US" sz="1266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Slurry</a:t>
                      </a:r>
                      <a:endParaRPr lang="en-US" sz="1266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6257" marR="56257" marT="56257" marB="56257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72"/>
                        </a:lnSpc>
                        <a:buNone/>
                      </a:pPr>
                      <a:r>
                        <a:rPr lang="en-US" sz="1266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MX-80 ≈1:10, live SRB, lactate and sulfate</a:t>
                      </a:r>
                      <a:endParaRPr lang="en-US" sz="1266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6257" marR="56257" marT="56257" marB="56257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72"/>
                        </a:lnSpc>
                        <a:buNone/>
                      </a:pPr>
                      <a:r>
                        <a:rPr lang="en-US" sz="1266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Does sulfide form at all in this system?</a:t>
                      </a:r>
                      <a:endParaRPr lang="en-US" sz="1266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6257" marR="56257" marT="56257" marB="56257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5627">
                <a:tc>
                  <a:txBody>
                    <a:bodyPr/>
                    <a:lstStyle/>
                    <a:p>
                      <a:pPr indent="0" marL="0">
                        <a:lnSpc>
                          <a:spcPts val="1772"/>
                        </a:lnSpc>
                        <a:buNone/>
                      </a:pPr>
                      <a:r>
                        <a:rPr lang="en-US" sz="1266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Compacted</a:t>
                      </a:r>
                      <a:endParaRPr lang="en-US" sz="1266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6257" marR="56257" marT="56257" marB="56257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72"/>
                        </a:lnSpc>
                        <a:buNone/>
                      </a:pPr>
                      <a:r>
                        <a:rPr lang="en-US" sz="1266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≈1.25 g/cm³ dry, live SRB</a:t>
                      </a:r>
                      <a:endParaRPr lang="en-US" sz="1266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6257" marR="56257" marT="56257" marB="56257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72"/>
                        </a:lnSpc>
                        <a:buNone/>
                      </a:pPr>
                      <a:r>
                        <a:rPr lang="en-US" sz="1266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Does compaction change it at a reachable density?</a:t>
                      </a:r>
                      <a:endParaRPr lang="en-US" sz="1266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6257" marR="56257" marT="56257" marB="56257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indent="0" marL="0">
                        <a:lnSpc>
                          <a:spcPts val="1772"/>
                        </a:lnSpc>
                        <a:buNone/>
                      </a:pPr>
                      <a:r>
                        <a:rPr lang="en-US" sz="1266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Sterile clay</a:t>
                      </a:r>
                      <a:endParaRPr lang="en-US" sz="1266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6257" marR="56257" marT="56257" marB="56257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72"/>
                        </a:lnSpc>
                        <a:buNone/>
                      </a:pPr>
                      <a:r>
                        <a:rPr lang="en-US" sz="1266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Autoclaved, same chemistry</a:t>
                      </a:r>
                      <a:endParaRPr lang="en-US" sz="1266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6257" marR="56257" marT="56257" marB="56257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72"/>
                        </a:lnSpc>
                        <a:buNone/>
                      </a:pPr>
                      <a:r>
                        <a:rPr lang="en-US" sz="1266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Separates abiotic corrosion from microbial</a:t>
                      </a:r>
                      <a:endParaRPr lang="en-US" sz="1266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6257" marR="56257" marT="56257" marB="56257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indent="0" marL="0">
                        <a:lnSpc>
                          <a:spcPts val="1772"/>
                        </a:lnSpc>
                        <a:buNone/>
                      </a:pPr>
                      <a:r>
                        <a:rPr lang="en-US" sz="1266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organism</a:t>
                      </a:r>
                      <a:endParaRPr lang="en-US" sz="1266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6257" marR="56257" marT="56257" marB="56257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72"/>
                        </a:lnSpc>
                        <a:buNone/>
                      </a:pPr>
                      <a:r>
                        <a:rPr lang="en-US" sz="1266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Live clay, no inoculum</a:t>
                      </a:r>
                      <a:endParaRPr lang="en-US" sz="1266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6257" marR="56257" marT="56257" marB="56257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72"/>
                        </a:lnSpc>
                        <a:buNone/>
                      </a:pPr>
                      <a:r>
                        <a:rPr lang="en-US" sz="1266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Tests the clay’s own resident microbes</a:t>
                      </a:r>
                      <a:endParaRPr lang="en-US" sz="1266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6257" marR="56257" marT="56257" marB="56257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4372608"/>
            <a:ext cx="10883392" cy="493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62"/>
              </a:lnSpc>
              <a:buNone/>
            </a:pPr>
            <a:r>
              <a:rPr lang="en-US" sz="1330" b="1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Readouts:</a:t>
            </a:r>
            <a:r>
              <a:rPr lang="en-US" sz="133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weekly sulfide and pH; at the end SEM/EDS, Raman (mackinawite versus Cu₂S), XRD d001, and mass loss after standard cleaning.</a:t>
            </a:r>
            <a:endParaRPr lang="en-US" sz="1330" dirty="0"/>
          </a:p>
        </p:txBody>
      </p:sp>
      <p:sp>
        <p:nvSpPr>
          <p:cNvPr id="6" name="Shape 3"/>
          <p:cNvSpPr/>
          <p:nvPr/>
        </p:nvSpPr>
        <p:spPr>
          <a:xfrm>
            <a:off x="812800" y="5069204"/>
            <a:ext cx="10566400" cy="772795"/>
          </a:xfrm>
          <a:prstGeom prst="roundRect">
            <a:avLst>
              <a:gd name="adj" fmla="val 9860"/>
            </a:avLst>
          </a:prstGeom>
          <a:solidFill>
            <a:srgbClr val="F3E3C7"/>
          </a:solidFill>
          <a:ln/>
        </p:spPr>
      </p:sp>
      <p:sp>
        <p:nvSpPr>
          <p:cNvPr id="7" name="Text 4"/>
          <p:cNvSpPr/>
          <p:nvPr/>
        </p:nvSpPr>
        <p:spPr>
          <a:xfrm>
            <a:off x="1016000" y="5221604"/>
            <a:ext cx="10464800" cy="493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62"/>
              </a:lnSpc>
              <a:buNone/>
            </a:pPr>
            <a:r>
              <a:rPr lang="en-US" sz="1330" b="1" dirty="0">
                <a:solidFill>
                  <a:srgbClr val="1F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limit:</a:t>
            </a:r>
            <a:r>
              <a:rPr lang="en-US" sz="1330" dirty="0">
                <a:solidFill>
                  <a:srgbClr val="1F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at roughly 1 µm/yr, a few weeks of corrosion is below what a balance resolves. Sulfide and surface chemistry carry the result.</a:t>
            </a:r>
            <a:endParaRPr lang="en-US" sz="1330" dirty="0"/>
          </a:p>
        </p:txBody>
      </p:sp>
      <p:sp>
        <p:nvSpPr>
          <p:cNvPr id="8" name="Text 5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after SKB TR-16-09 and Martinez-Moreno et al. 2023, minus the ³⁵S radiotracer. Triplicate arms. All BSL-1, non-radioactive.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AE7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8A5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AND SEPARATION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80158"/>
            <a:ext cx="10883392" cy="75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F2A2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The work stays BSL-1, non-radioactive and fully separate from my employer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15975" y="2263775"/>
            <a:ext cx="5175250" cy="2274570"/>
          </a:xfrm>
          <a:prstGeom prst="roundRect">
            <a:avLst>
              <a:gd name="adj" fmla="val 4327"/>
            </a:avLst>
          </a:prstGeom>
          <a:solidFill>
            <a:srgbClr val="F6F5F0"/>
          </a:solidFill>
          <a:ln w="6350">
            <a:solidFill>
              <a:srgbClr val="D2CCB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7750" y="2495550"/>
            <a:ext cx="4853051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F6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Biosafety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5413" y="2840992"/>
            <a:ext cx="4747768" cy="149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6337" indent="-156337">
              <a:lnSpc>
                <a:spcPts val="1890"/>
              </a:lnSpc>
              <a:buSzPct val="100000"/>
              <a:buChar char="•"/>
            </a:pPr>
            <a:r>
              <a:rPr lang="en-US" sz="135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DSMZ lists the candidate sulfate reducer (DSM 644, = ATCC 29579) as Risk Group 1</a:t>
            </a:r>
            <a:endParaRPr lang="en-US" sz="1350" dirty="0"/>
          </a:p>
          <a:p>
            <a:pPr algn="l" marL="156337" indent="-156337">
              <a:lnSpc>
                <a:spcPts val="1890"/>
              </a:lnSpc>
              <a:buSzPct val="100000"/>
              <a:buChar char="•"/>
            </a:pPr>
            <a:r>
              <a:rPr lang="en-US" sz="135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supplier page carries a conflicting product label, so I will confirm with them and your IBC before ordering</a:t>
            </a:r>
            <a:endParaRPr lang="en-US" sz="1350" dirty="0"/>
          </a:p>
          <a:p>
            <a:pPr algn="l" marL="156337" indent="-156337">
              <a:lnSpc>
                <a:spcPts val="1890"/>
              </a:lnSpc>
              <a:buSzPct val="100000"/>
              <a:buChar char="•"/>
            </a:pPr>
            <a:r>
              <a:rPr lang="en-US" sz="135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 the genus was revised to </a:t>
            </a:r>
            <a:r>
              <a:rPr lang="en-US" sz="1350" i="1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Nitratidesulfovibrio</a:t>
            </a:r>
            <a:r>
              <a:rPr lang="en-US" sz="135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2020</a:t>
            </a:r>
            <a:endParaRPr lang="en-US" sz="1350" dirty="0"/>
          </a:p>
          <a:p>
            <a:pPr algn="l" marL="156337" indent="-156337">
              <a:lnSpc>
                <a:spcPts val="1890"/>
              </a:lnSpc>
              <a:buSzPct val="100000"/>
              <a:buChar char="•"/>
            </a:pPr>
            <a:r>
              <a:rPr lang="en-US" sz="135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IBC approval before any organism is handled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00775" y="2263775"/>
            <a:ext cx="5175250" cy="2274570"/>
          </a:xfrm>
          <a:prstGeom prst="roundRect">
            <a:avLst>
              <a:gd name="adj" fmla="val 4327"/>
            </a:avLst>
          </a:prstGeom>
          <a:solidFill>
            <a:srgbClr val="F6F5F0"/>
          </a:solidFill>
          <a:ln w="6350">
            <a:solidFill>
              <a:srgbClr val="D2CCB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32550" y="2495550"/>
            <a:ext cx="4853051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F6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30213" y="2840992"/>
            <a:ext cx="4747768" cy="1250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6337" indent="-156337">
              <a:lnSpc>
                <a:spcPts val="1890"/>
              </a:lnSpc>
              <a:buSzPct val="100000"/>
              <a:buChar char="•"/>
            </a:pPr>
            <a:r>
              <a:rPr lang="en-US" sz="135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radioactivity anywhere in the design</a:t>
            </a:r>
            <a:endParaRPr lang="en-US" sz="1350" dirty="0"/>
          </a:p>
          <a:p>
            <a:pPr algn="l" marL="156337" indent="-156337">
              <a:lnSpc>
                <a:spcPts val="1890"/>
              </a:lnSpc>
              <a:buSzPct val="100000"/>
              <a:buChar char="•"/>
            </a:pPr>
            <a:r>
              <a:rPr lang="en-US" sz="135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employer facilities, data, imagery or branding</a:t>
            </a:r>
            <a:endParaRPr lang="en-US" sz="1350" dirty="0"/>
          </a:p>
          <a:p>
            <a:pPr algn="l" marL="156337" indent="-156337">
              <a:lnSpc>
                <a:spcPts val="1890"/>
              </a:lnSpc>
              <a:buSzPct val="100000"/>
              <a:buChar char="•"/>
            </a:pPr>
            <a:r>
              <a:rPr lang="en-US" sz="135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Outside-activity disclosure in progress with my supervisor</a:t>
            </a:r>
            <a:endParaRPr lang="en-US" sz="1350" dirty="0"/>
          </a:p>
          <a:p>
            <a:pPr algn="l" marL="156337" indent="-156337">
              <a:lnSpc>
                <a:spcPts val="1890"/>
              </a:lnSpc>
              <a:buSzPct val="100000"/>
              <a:buChar char="•"/>
            </a:pPr>
            <a:r>
              <a:rPr lang="en-US" sz="135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here is public literature or my own labelled models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8A5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80158"/>
            <a:ext cx="10883392" cy="75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F2A2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I bring modelling and analysis, and I would need bench access and mentorship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15975" y="2263775"/>
            <a:ext cx="5175250" cy="2823210"/>
          </a:xfrm>
          <a:prstGeom prst="roundRect">
            <a:avLst>
              <a:gd name="adj" fmla="val 3486"/>
            </a:avLst>
          </a:prstGeom>
          <a:solidFill>
            <a:srgbClr val="FFFFFF"/>
          </a:solidFill>
          <a:ln w="6350">
            <a:solidFill>
              <a:srgbClr val="DAD5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3150" y="2520950"/>
            <a:ext cx="4800727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F6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 bring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64082" y="2866392"/>
            <a:ext cx="4702175" cy="15913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3068" indent="-16306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Reactive-transport and surface-complexation modelling</a:t>
            </a:r>
            <a:endParaRPr lang="en-US" sz="1400" dirty="0"/>
          </a:p>
          <a:p>
            <a:pPr algn="l" marL="163068" indent="-16306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Julia numerics and data analysis</a:t>
            </a:r>
            <a:endParaRPr lang="en-US" sz="1400" dirty="0"/>
          </a:p>
          <a:p>
            <a:pPr algn="l" marL="163068" indent="-16306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Analytical chemistry background: HPLC, ICP, GMP and GLP lab work</a:t>
            </a:r>
            <a:endParaRPr lang="en-US" sz="1400" dirty="0"/>
          </a:p>
          <a:p>
            <a:pPr algn="l" marL="163068" indent="-16306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pre-registered readout plan, with every claim typed as measured, modelled or assumed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00775" y="2263775"/>
            <a:ext cx="5175250" cy="2823210"/>
          </a:xfrm>
          <a:prstGeom prst="roundRect">
            <a:avLst>
              <a:gd name="adj" fmla="val 3486"/>
            </a:avLst>
          </a:prstGeom>
          <a:solidFill>
            <a:srgbClr val="FFFFFF"/>
          </a:solidFill>
          <a:ln w="6350">
            <a:solidFill>
              <a:srgbClr val="DAD5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57950" y="2520950"/>
            <a:ext cx="4800727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8A5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 would need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48882" y="2866392"/>
            <a:ext cx="4702175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3068" indent="-16306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Anaerobic chamber and BSL-1 bench time</a:t>
            </a:r>
            <a:endParaRPr lang="en-US" sz="1400" dirty="0"/>
          </a:p>
          <a:p>
            <a:pPr algn="l" marL="163068" indent="-16306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to SEM/EDS, XRD and Raman</a:t>
            </a:r>
            <a:endParaRPr lang="en-US" sz="1400" dirty="0"/>
          </a:p>
          <a:p>
            <a:pPr algn="l" marL="163068" indent="-16306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Mentorship on biofilm and corrosion method choices</a:t>
            </a:r>
            <a:endParaRPr lang="en-US" sz="1400" dirty="0"/>
          </a:p>
          <a:p>
            <a:pPr algn="l" marL="163068" indent="-16306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feedback on whether this is worth pursuing at all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12800" y="5344158"/>
            <a:ext cx="10883392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E4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Self-funded, evenings and weekends. Consumables for the pilot are plausibly a few thousand dollars, which is my estimate rather than a quote.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4672" y="722376"/>
            <a:ext cx="108356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0" i="0">
                <a:solidFill>
                  <a:srgbClr val="A86418"/>
                </a:solidFill>
                <a:latin typeface="Arial"/>
              </a:rPr>
              <a:t>PROPOSED MEASUREMENT LAYER . FLOW CYTOMETRY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" y="1170432"/>
            <a:ext cx="10927080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50" b="1" i="0">
                <a:solidFill>
                  <a:srgbClr val="273238"/>
                </a:solidFill>
                <a:latin typeface="Georgia"/>
              </a:rPr>
              <a:t>Flow cytometry adds cell-state observations to the interface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65376"/>
            <a:ext cx="1088136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40" b="0" i="0">
                <a:solidFill>
                  <a:srgbClr val="536168"/>
                </a:solidFill>
                <a:latin typeface="Arial"/>
              </a:rPr>
              <a:t>It measures suspended-cell phenotypes; by itself, it does not preserve where cells sat inside clay or a biofilm.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" y="2423160"/>
            <a:ext cx="3493008" cy="2514600"/>
          </a:xfrm>
          <a:prstGeom prst="roundRect">
            <a:avLst/>
          </a:prstGeom>
          <a:solidFill>
            <a:srgbClr val="E4EDF4"/>
          </a:solidFill>
          <a:ln w="10160">
            <a:solidFill>
              <a:srgbClr val="D4D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9264" y="2551176"/>
            <a:ext cx="3163824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4A779D"/>
                </a:solidFill>
                <a:latin typeface="Arial"/>
              </a:rPr>
              <a:t>WHAT IT CAN MEASURE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" y="2980944"/>
            <a:ext cx="3163824" cy="18196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35" b="0" i="0">
                <a:solidFill>
                  <a:srgbClr val="273238"/>
                </a:solidFill>
                <a:latin typeface="Arial"/>
              </a:rPr>
              <a:t>• Gated cell-event counts and concentration using counting beads</a:t>
            </a:r>
          </a:p>
          <a:p>
            <a:pPr algn="l">
              <a:spcAft>
                <a:spcPts val="500"/>
              </a:spcAft>
            </a:pPr>
            <a:r>
              <a:rPr sz="1235" b="0" i="0">
                <a:solidFill>
                  <a:srgbClr val="273238"/>
                </a:solidFill>
                <a:latin typeface="Arial"/>
              </a:rPr>
              <a:t>• Dye-defined membrane-integrity classes, after strain-specific validation</a:t>
            </a:r>
          </a:p>
          <a:p>
            <a:pPr algn="l">
              <a:spcAft>
                <a:spcPts val="500"/>
              </a:spcAft>
            </a:pPr>
            <a:r>
              <a:rPr sz="1235" b="0" i="0">
                <a:solidFill>
                  <a:srgbClr val="273238"/>
                </a:solidFill>
                <a:latin typeface="Arial"/>
              </a:rPr>
              <a:t>• Scatter and per-cell fluorescence distributions</a:t>
            </a:r>
          </a:p>
          <a:p>
            <a:pPr algn="l">
              <a:spcAft>
                <a:spcPts val="500"/>
              </a:spcAft>
            </a:pPr>
            <a:r>
              <a:rPr sz="1235" b="0" i="0">
                <a:solidFill>
                  <a:srgbClr val="273238"/>
                </a:solidFill>
                <a:latin typeface="Arial"/>
              </a:rPr>
              <a:t>• Optional metabolic / ROS panels only after assay validation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35424" y="2423160"/>
            <a:ext cx="3493008" cy="2514600"/>
          </a:xfrm>
          <a:prstGeom prst="roundRect">
            <a:avLst/>
          </a:prstGeom>
          <a:solidFill>
            <a:srgbClr val="E1EBE6"/>
          </a:solidFill>
          <a:ln w="10160">
            <a:solidFill>
              <a:srgbClr val="D4D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0016" y="2551176"/>
            <a:ext cx="3163824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3C6D65"/>
                </a:solidFill>
                <a:latin typeface="Arial"/>
              </a:rPr>
              <a:t>WHAT IT CONSTRAINS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0016" y="2980944"/>
            <a:ext cx="3163824" cy="18196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35" b="0" i="0">
                <a:solidFill>
                  <a:srgbClr val="273238"/>
                </a:solidFill>
                <a:latin typeface="Arial"/>
              </a:rPr>
              <a:t>• Suspended and detached-cell abundance</a:t>
            </a:r>
          </a:p>
          <a:p>
            <a:pPr algn="l">
              <a:spcAft>
                <a:spcPts val="500"/>
              </a:spcAft>
            </a:pPr>
            <a:r>
              <a:rPr sz="1235" b="0" i="0">
                <a:solidFill>
                  <a:srgbClr val="273238"/>
                </a:solidFill>
                <a:latin typeface="Arial"/>
              </a:rPr>
              <a:t>• Fractions in measured physiological-state gates</a:t>
            </a:r>
          </a:p>
          <a:p>
            <a:pPr algn="l">
              <a:spcAft>
                <a:spcPts val="500"/>
              </a:spcAft>
            </a:pPr>
            <a:r>
              <a:rPr sz="1235" b="0" i="0">
                <a:solidFill>
                  <a:srgbClr val="273238"/>
                </a:solidFill>
                <a:latin typeface="Arial"/>
              </a:rPr>
              <a:t>• Net growth/death or attachment/detachment rates when time series are available</a:t>
            </a:r>
          </a:p>
          <a:p>
            <a:pPr algn="l">
              <a:spcAft>
                <a:spcPts val="500"/>
              </a:spcAft>
            </a:pPr>
            <a:r>
              <a:rPr sz="1235" b="0" i="0">
                <a:solidFill>
                  <a:srgbClr val="273238"/>
                </a:solidFill>
                <a:latin typeface="Arial"/>
              </a:rPr>
              <a:t>• Equifinality: similar bulk chemistry can arise from different cell-state histories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66176" y="2423160"/>
            <a:ext cx="3493008" cy="2514600"/>
          </a:xfrm>
          <a:prstGeom prst="roundRect">
            <a:avLst/>
          </a:prstGeom>
          <a:solidFill>
            <a:srgbClr val="F5E5C5"/>
          </a:solidFill>
          <a:ln w="10160">
            <a:solidFill>
              <a:srgbClr val="D4D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30768" y="2551176"/>
            <a:ext cx="3163824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A86418"/>
                </a:solidFill>
                <a:latin typeface="Arial"/>
              </a:rPr>
              <a:t>LIMITS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30768" y="2980944"/>
            <a:ext cx="3163824" cy="18196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35" b="0" i="0">
                <a:solidFill>
                  <a:srgbClr val="273238"/>
                </a:solidFill>
                <a:latin typeface="Arial"/>
              </a:rPr>
              <a:t>• Spatial position in the clay pore network</a:t>
            </a:r>
          </a:p>
          <a:p>
            <a:pPr algn="l">
              <a:spcAft>
                <a:spcPts val="500"/>
              </a:spcAft>
            </a:pPr>
            <a:r>
              <a:rPr sz="1235" b="0" i="0">
                <a:solidFill>
                  <a:srgbClr val="273238"/>
                </a:solidFill>
                <a:latin typeface="Arial"/>
              </a:rPr>
              <a:t>• EPS cross-link density or mineral phase</a:t>
            </a:r>
          </a:p>
          <a:p>
            <a:pPr algn="l">
              <a:spcAft>
                <a:spcPts val="500"/>
              </a:spcAft>
            </a:pPr>
            <a:r>
              <a:rPr sz="1235" b="0" i="0">
                <a:solidFill>
                  <a:srgbClr val="273238"/>
                </a:solidFill>
                <a:latin typeface="Arial"/>
              </a:rPr>
              <a:t>• Corrosion rate / causal mechanism</a:t>
            </a:r>
          </a:p>
          <a:p>
            <a:pPr algn="l">
              <a:spcAft>
                <a:spcPts val="500"/>
              </a:spcAft>
            </a:pPr>
            <a:r>
              <a:rPr sz="1235" b="0" i="0">
                <a:solidFill>
                  <a:srgbClr val="273238"/>
                </a:solidFill>
                <a:latin typeface="Arial"/>
              </a:rPr>
              <a:t>• "Live" status from fluorescence alone without controls; clay particles and aggregates can distort gates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" y="5138928"/>
            <a:ext cx="10917936" cy="658368"/>
          </a:xfrm>
          <a:prstGeom prst="roundRect">
            <a:avLst/>
          </a:prstGeom>
          <a:solidFill>
            <a:srgbClr val="F5E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5285232"/>
            <a:ext cx="10552176" cy="3931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10" b="1" i="0">
                <a:solidFill>
                  <a:srgbClr val="273238"/>
                </a:solidFill>
                <a:latin typeface="Arial"/>
              </a:rPr>
              <a:t>MINIMUM VIABLE ADD-ON: absolute counts + a validated membrane-integrity panel at preselected timepoints; keep maximum pit depth as the primary corrosion endpoint.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6236208"/>
            <a:ext cx="109270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60" b="0" i="0">
                <a:solidFill>
                  <a:srgbClr val="536168"/>
                </a:solidFill>
                <a:latin typeface="Arial"/>
              </a:rPr>
              <a:t>Sources: Kerstens et al. (2015), doi:10.1007/s12223-015-0400-4; Grainha et al. (2020), doi:10.3390/antibiotics9110741; Yip et al. (2022), doi:10.1371/journal.pcbi.1010533.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lay, Microbes and Metal">
  <a:themeElements>
    <a:clrScheme name="Clay, Microbes and Metal">
      <a:dk1>
        <a:srgbClr val="1F2A2E"/>
      </a:dk1>
      <a:lt1>
        <a:srgbClr val="F6F5F0"/>
      </a:lt1>
      <a:dk2>
        <a:srgbClr val="555D5F"/>
      </a:dk2>
      <a:lt2>
        <a:srgbClr val="E1E1DD"/>
      </a:lt2>
      <a:accent1>
        <a:srgbClr val="8A5212"/>
      </a:accent1>
      <a:accent2>
        <a:srgbClr val="2F6B66"/>
      </a:accent2>
      <a:accent3>
        <a:srgbClr val="D9A65A"/>
      </a:accent3>
      <a:accent4>
        <a:srgbClr val="F3E3C7"/>
      </a:accent4>
      <a:accent5>
        <a:srgbClr val="3E4A50"/>
      </a:accent5>
      <a:accent6>
        <a:srgbClr val="5A6670"/>
      </a:accent6>
      <a:hlink>
        <a:srgbClr val="0563C1"/>
      </a:hlink>
      <a:folHlink>
        <a:srgbClr val="954F72"/>
      </a:folHlink>
    </a:clrScheme>
    <a:fontScheme name="Clay, Microbes and Metal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Clay, Microbes and Metal</dc:title>
  <dc:subject/>
  <dc:creator/>
  <cp:lastModifiedBy/>
  <cp:revision>1</cp:revision>
  <dcterms:created xsi:type="dcterms:W3CDTF">2026-10-29T04:32:17Z</dcterms:created>
  <dcterms:modified xsi:type="dcterms:W3CDTF">2026-10-29T04:32:17Z</dcterms:modified>
</cp:coreProperties>
</file>