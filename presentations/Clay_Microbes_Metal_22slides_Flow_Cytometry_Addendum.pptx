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7"/>
    <p:sldId id="277" r:id="rId28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a questions-first conversation, not a proposal. Everything here is from public literature or my own clearly labelled models. No radioactivity, no employer facilities or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these first and let the answers steer the rest. It is fine to skip most of the deck if the conversation goes somewhere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redrew the clay schematic so there is no question about the source. The diagram I had earlier has unknown provenance, so I am not showing it. Real samples are interstratified: Ca-SWy at 20% RH is roughly 45% 2W, 40% 1W, 15% 0W.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the wet versus dry density trap. Wet 2.0 g/cm³ is roughly dry 1.56 (my own conversion). The often-quoted 1.6 dry / aw 0.96 / 2 MPa triad is only cited second-hand, via Engel 2019.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for a bench study: put the coupon at an interface and measure where sulfide ends up, not just how much forms. Andrew may know these corrosion-rate numbers better than I do; invite correction. The copper numbers are model outputs, not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Low-iron montmorillonite changes much less than iron-rich smectite, so clay choice matters for any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Hectorite is not montmorillonite, and the calcium study had no clay at all. I would rather say so than imply more than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sharpest version of the slide 7 gap. Ask Ellen directly whether her lab could tell these apart, and what measurement she would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someone else’s published simulation, reused under CC BY 4.0. It shows the kind of model I can build on; my contribution would be the biomass term.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Oklo is why I came to this topic, but it is an analogue for the concept only. No biofilm evidence exists in the reaction zones.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one minute. Do not show the public portal until its pending corrections are pushed. Mention it only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MP4s from the laptop if anyone wants to see the motion. Say the caveat out loud before the animation, not after: these are pictures of formulas. They show what the compartment geometry looks like, which is useful for talking about where a coupon would sit, and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 that this pilot is a feasibility test. Finding the density threshold needs the longer study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stable-metal arm is where my earlier modelling work would actually connect to bench data. Offer it, do not push it. On magnetite: iron reducers can precipitate it, and susceptibility is cheap to measure, so it costs almost nothing to look. Do not claim it will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early if it comes up naturally; it answers the question before anyone has to ask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here if the conversation is going well. The references and appendix are backup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out loud if anyone asks about the number. The four defect axes (source, coordination, boundary, control) are a perfectly good rubric on their own. Keep the rubric, drop the Boltzmann factor, or make the scorer independent. The honest version of this idea is simply: checker is never the committer.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anyone asks for a reference I cannot confirm on the spot, say so and send it afterwards. Do not guess.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exists mainly so I do not mix wet and dry densities on one axis during the conversation.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Cheap and simple: sealed jars with saturated salt slurries. A good first experiment if bench time is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APPENDIX SLIDE. Flow cytometry is an observation layer, not a fluid or geochemical solver. It generally requires cell suspensions. For attached biofilm/clay, validate detachment and recovery and report extraction protocol. Kerstens et al. (2015) demonstrated a flow-cytometric biofilm quantification workflow in E. coli and C. albicans; do not transfer its staining interpretation automatically to a sulfate-reducing strain. Grainha et al. (2020) document difficulties caused by strain, morphology and matrix effects in mixed biofilms. Use clay-only, unstained, stain-only, positive/negative viability, counting-bead and spike-recovery controls. Do not interpret this as proof that flow cytometry directly measures EPS cross-links or spatial location. Maximum pit depth remains the primary corrosion endpoint.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APPENDIX SLIDE. This is an architecture proposal, not a claimed integration already in code. OpenFOAM produces hydrodynamic fields; PHREEQC produces aqueous speciation / mineral chemistry; Julia couples the biological state equations and builds the observation operator. Flow cytometry is not a spatial sensor: model output must be aggregated to the sampled compartment (effluent, planktonic suspension, or detached biofilm) and passed through a gate-calibration / sampling model. A simple first likelihood can use multinomial gate counts conditioned on total gated events and a separate count model for absolute concentration from counting beads, with uncertainty and extraction recovery. Avoid double-counting the same event total as two independent likelihood terms. The current 20-slide deck is explicitly for Ellen Wan and Andrew Hoffman; these two slides are optional appendices for the clay/biofilm pilot. For Dr. Ghosh, use a separate, lab-specific framing around single-cell/nanobio measurements. Do not imply that flow cytometry directly measures EPS bridges, local mineral phases or spatial cell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280159"/>
            <a:ext cx="1056640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2600" dirty="0">
                <a:solidFill>
                  <a:srgbClr val="1F2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2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2311399"/>
            <a:ext cx="10566400" cy="3733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280159"/>
            <a:ext cx="1056640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2600" dirty="0">
                <a:solidFill>
                  <a:srgbClr val="1F2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2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2311399"/>
            <a:ext cx="10566400" cy="3733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chimerax_oklo_6fields_60frames.gif"/><Relationship Id="rId2" Type="http://schemas.openxmlformats.org/officeDocument/2006/relationships/image" Target="../media/pymol_oklo_6fields_60frames.gif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cked clay layers mot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18400" y="1905000"/>
            <a:ext cx="4064000" cy="266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D9A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MEETING · ELLEN WAN &amp; ANDREW HOFFMAN</a:t>
            </a:r>
            <a:endParaRPr lang="en-US" sz="14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224405"/>
            <a:ext cx="6802120" cy="1305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i="0" dirty="0">
                <a:solidFill>
                  <a:srgbClr val="F3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Clay, microbes and metal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812800" y="3707765"/>
            <a:ext cx="6802120" cy="951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BFD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clay hydration and iron chemistry gate microbially influenced corrosion, and whether a small BSL-1 pilot is a shared question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12800" y="579628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FD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Hunter Kinder · independent researcher ·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60"/>
            <a:ext cx="1088339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Three questions decide whether this is a fit for us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5975" y="1900555"/>
            <a:ext cx="3380317" cy="3938270"/>
          </a:xfrm>
          <a:prstGeom prst="roundRect">
            <a:avLst>
              <a:gd name="adj" fmla="val 2912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3150" y="2157730"/>
            <a:ext cx="2951946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F6B6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73150" y="2782570"/>
            <a:ext cx="2951946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Ellen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3150" y="3153410"/>
            <a:ext cx="2951946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clay-EPS-metal interface study a fit for your biofilm and EPS work, and with which BSL-1 strains?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42" y="1900555"/>
            <a:ext cx="3380317" cy="3938270"/>
          </a:xfrm>
          <a:prstGeom prst="roundRect">
            <a:avLst>
              <a:gd name="adj" fmla="val 2912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017" y="2157730"/>
            <a:ext cx="2951946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F6B6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63017" y="2782570"/>
            <a:ext cx="2951946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Andrew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017" y="3153410"/>
            <a:ext cx="2951946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corrosion-product signatures (FeS, Fe₃O₄, Cu₂S) would you trust from Raman, SEM/EDS and XRD after 2-4 weeks?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708" y="1900555"/>
            <a:ext cx="3380317" cy="3938270"/>
          </a:xfrm>
          <a:prstGeom prst="roundRect">
            <a:avLst>
              <a:gd name="adj" fmla="val 2912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2883" y="2157730"/>
            <a:ext cx="2951946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F6B6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52883" y="2782570"/>
            <a:ext cx="2951946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both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52883" y="3153410"/>
            <a:ext cx="2951946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smallest result that would justify a 3-6 month study, and what would make you say no?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· MEASURED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61"/>
            <a:ext cx="10883392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Montmorillonite takes up water in discrete steps, and the cation sets which step</a:t>
            </a:r>
            <a:endParaRPr lang="en-US" sz="2600" dirty="0"/>
          </a:p>
        </p:txBody>
      </p:sp>
      <p:pic>
        <p:nvPicPr>
          <p:cNvPr id="4" name="Image 0" descr="Schematic of three clay layers with hydrated interlayers and the d001 spacing marke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2590800"/>
            <a:ext cx="4445000" cy="292100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6100" y="2642870"/>
          <a:ext cx="5753100" cy="1930400"/>
        </p:xfrm>
        <a:graphic>
          <a:graphicData uri="http://schemas.openxmlformats.org/drawingml/2006/table">
            <a:tbl>
              <a:tblPr/>
              <a:tblGrid>
                <a:gridCol w="2301240"/>
                <a:gridCol w="3451860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d001 spacing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Dry (0W)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≈10.0 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water layer (1W)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≈12.6 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layers (2W)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≈15.2-15.3 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layers (3W, Na)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≈18-19.5 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613400" y="4725670"/>
            <a:ext cx="593877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40% RH, Na-montmorillonite sits near 12.5 Å (1W) and Ca-montmorillonite near 15.2 Å (2W). Only Na clays go on to osmotic swelling.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812800" y="6024880"/>
            <a:ext cx="1088339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Ferrage et al. 2005a, Am. Mineral. 90:1358-1374; 2005b, Clays Clay Miner. 53:348-360. Schematic redrawn for this deck (green: silicate sheets; ochre: octahedral sheet; blue: cations and water). Bracket marks d001.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· MEASURED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61"/>
            <a:ext cx="10883392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Compaction shuts off sulfide production but leaves sulfate reducers alive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5975" y="2263775"/>
            <a:ext cx="3380317" cy="1517650"/>
          </a:xfrm>
          <a:prstGeom prst="roundRect">
            <a:avLst>
              <a:gd name="adj" fmla="val 6485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495550"/>
            <a:ext cx="300427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F6B6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1740-1880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47750" y="3069589"/>
            <a:ext cx="3004270" cy="50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kg/m³ </a:t>
            </a:r>
            <a:r>
              <a:rPr lang="en-US" sz="1400" b="1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</a:t>
            </a: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density where sulfide production collapses (≈1.2-1.4 dry)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05842" y="2263775"/>
            <a:ext cx="3380317" cy="1517650"/>
          </a:xfrm>
          <a:prstGeom prst="roundRect">
            <a:avLst>
              <a:gd name="adj" fmla="val 6485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7617" y="2495550"/>
            <a:ext cx="300427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F6B6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10⁵-10⁶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637617" y="3069589"/>
            <a:ext cx="3004270" cy="50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SRB per litre still alive at 2000 kg/m³, where activity is near zero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95708" y="2263775"/>
            <a:ext cx="3380317" cy="1517650"/>
          </a:xfrm>
          <a:prstGeom prst="roundRect">
            <a:avLst>
              <a:gd name="adj" fmla="val 6485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7483" y="2495550"/>
            <a:ext cx="300427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F6B6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0.954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227483" y="3069589"/>
            <a:ext cx="3004270" cy="50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activity measured in situ at 1.50 g/cm³ </a:t>
            </a:r>
            <a:r>
              <a:rPr lang="en-US" sz="1400" b="1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</a:t>
            </a: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(0.983 at 1.25)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4038600"/>
            <a:ext cx="10566400" cy="802640"/>
          </a:xfrm>
          <a:prstGeom prst="roundRect">
            <a:avLst>
              <a:gd name="adj" fmla="val 9494"/>
            </a:avLst>
          </a:prstGeom>
          <a:solidFill>
            <a:srgbClr val="EAE7DF"/>
          </a:solidFill>
          <a:ln/>
        </p:spPr>
        <p:txBody>
          <a:bodyPr wrap="square" lIns="180882" tIns="130082" rIns="0" bIns="104682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question:</a:t>
            </a: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10-15 MPa of pressure alone did not suppress activity; water activity, pore size and heat are the competing explanations.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39"/>
            <a:ext cx="113792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SKB TR-16-09 (Bengtsson et al.); Engel et al. 2023, mSphere; Bartak et al. 2024, World J Microbiol Biotechnol. SKB reports wet density; Grimsel reports dry.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· FIELD AND MODEL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61"/>
            <a:ext cx="10883392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Interfaces, not the bulk buffer, are where microbes grow and metal corrodes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273300"/>
          <a:ext cx="10553700" cy="2428240"/>
        </p:xfrm>
        <a:graphic>
          <a:graphicData uri="http://schemas.openxmlformats.org/drawingml/2006/table">
            <a:tbl>
              <a:tblPr/>
              <a:tblGrid>
                <a:gridCol w="2743962"/>
                <a:gridCol w="5276850"/>
                <a:gridCol w="2532888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seen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Grimsel MaCoTe, 5 years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Outer bentonite up to 66% Desulfosporosinus; inner core unchanged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Field, measured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 Terri steel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1.5-2.25 µm/yr at 20 months, 0.75 µm/yr at 5.5 years; FeS linked to SRB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Field, measured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Copper canister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≤1.3 mm in 1 Myr; iron minerals trap ~93% of sulfide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Copper without goethite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Corrosion ≈20× deeper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Engel et al. 2023, mSphere; Necib et al. 2017, Swiss J Geosci; Burzan et al. 2022, Front Microbiol; Ma et al. 2022, Appl Geochem.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· LAB AND FIELD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61"/>
            <a:ext cx="10883392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Iron moves both ways: steel stains the clay, and microbes reduce the clay’s iron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5975" y="2263775"/>
            <a:ext cx="5175250" cy="2316798"/>
          </a:xfrm>
          <a:prstGeom prst="roundRect">
            <a:avLst>
              <a:gd name="adj" fmla="val 4248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495550"/>
            <a:ext cx="485305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F6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Steel → clay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38682" y="2840989"/>
            <a:ext cx="4754499" cy="1035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3068" indent="-16306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Äspö ABM1: ≈100 µm corrosion layer, ≈10 mm iron-enriched clay, no new clay phases</a:t>
            </a:r>
            <a:endParaRPr lang="en-US" sz="1400" dirty="0"/>
          </a:p>
          <a:p>
            <a:pPr algn="l" marL="163068" indent="-16306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Grimsel FEBEX, 18 years: iron halos beyond 140 mm</a:t>
            </a:r>
            <a:endParaRPr lang="en-US" sz="1400" dirty="0"/>
          </a:p>
          <a:p>
            <a:pPr algn="l" marL="163068" indent="-16306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Swelling loss in the field: inferred, not measured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00775" y="2263775"/>
            <a:ext cx="5175250" cy="2316798"/>
          </a:xfrm>
          <a:prstGeom prst="roundRect">
            <a:avLst>
              <a:gd name="adj" fmla="val 4248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2550" y="2495550"/>
            <a:ext cx="485305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F6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Microbes → clay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23482" y="2840989"/>
            <a:ext cx="4754499" cy="1533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3068" indent="-16306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Smectite → illite in 14 days at room temperature (abiotic: 300-350 °C)</a:t>
            </a:r>
            <a:endParaRPr lang="en-US" sz="1400" dirty="0"/>
          </a:p>
          <a:p>
            <a:pPr algn="l" marL="163068" indent="-16306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Fe(III) reduction raised CEC 0.82 → 1.5 meq/g in iron-rich clay, only 0.85 → 0.99 in montmorillonite</a:t>
            </a:r>
            <a:endParaRPr lang="en-US" sz="1400" dirty="0"/>
          </a:p>
          <a:p>
            <a:pPr algn="l" marL="163068" indent="-16306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Swelling pressure fell in every iron-bearing smectite tested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800" y="4837748"/>
            <a:ext cx="10566400" cy="553720"/>
          </a:xfrm>
          <a:prstGeom prst="roundRect">
            <a:avLst>
              <a:gd name="adj" fmla="val 13761"/>
            </a:avLst>
          </a:prstGeom>
          <a:solidFill>
            <a:srgbClr val="F3E3C7"/>
          </a:solidFill>
          <a:ln/>
        </p:spPr>
        <p:txBody>
          <a:bodyPr wrap="square" lIns="180882" tIns="130082" rIns="0" bIns="104682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Hypothesis, not shown:</a:t>
            </a:r>
            <a:r>
              <a:rPr lang="en-US" sz="1400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microbial iron reduction loosens the barrier and speeds corrosion at the interface.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Wersin et al. 2015; Hadi et al. 2019; Kim et al. 2004, Science; Stucki &amp; Kostka 2006; Gates et al. 1998.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IS THIN HERE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61"/>
            <a:ext cx="10883392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Biofilm polymers enter clay interlayers and Ca²⁺ bridges EPS, but clay-specific data are thin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273300"/>
          <a:ext cx="10553700" cy="1930400"/>
        </p:xfrm>
        <a:graphic>
          <a:graphicData uri="http://schemas.openxmlformats.org/drawingml/2006/table">
            <a:tbl>
              <a:tblPr/>
              <a:tblGrid>
                <a:gridCol w="2321814"/>
                <a:gridCol w="8231886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type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(hectorite)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 P. syringae, d001 went 1.50 → 1.26 nm in 72 h, then 1.84 nm in about a week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Analogue (no clay)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mM Ca²⁺: biofilm biomass 25-51× control, thickness 2.1 → 19.6 µm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Clay-microbe interaction knowledge is “still very incomplete”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Ca²⁺ released at the interface stabilises a clay-EPS-metal biofilm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4577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gap is where Ellen’s EPS expertise could matter most.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Alimova et al. 2009, Clays Clay Miner.; Xiong et al. 2022, Front Environ Sci; Cuadros 2017, Clay Miner. (CC BY 4.0).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 WOULD MOST LIKE YOUR VIEW ON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54761"/>
            <a:ext cx="10883392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Screening, chelation and bridging are three different things, and only one changes connectivity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222500"/>
          <a:ext cx="10553700" cy="2211070"/>
        </p:xfrm>
        <a:graphic>
          <a:graphicData uri="http://schemas.openxmlformats.org/drawingml/2006/table">
            <a:tbl>
              <a:tblPr/>
              <a:tblGrid>
                <a:gridCol w="2743962"/>
                <a:gridCol w="4221480"/>
                <a:gridCol w="3588258"/>
              </a:tblGrid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cation does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would show it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</a:tr>
              <a:tr h="61277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Charge screening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Reduces repulsion between charged groups; links nothing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Surface potential shifts with ionic strength alone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277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Chelation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ligand grips one ion at several points; still one chain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Coordination geometry, not network change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277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Bridging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ion joins two separate chains, or a chain to a clay face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Rheology or retention changes beyond the ionic-strength effect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62171"/>
            <a:ext cx="1088339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Denticity is not the same as connectivity: a monodentate contact can still be part of a bridge if the ion coordinates something else elsewhere. The clean contrast is a monovalent control against Ca²⁺ at matched ionic strength and pH.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Terminology after IUPAC Gold Book C01012 (chelation). A drop in surface potential alone would not establish cross-linking.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29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0"/>
              </a:lnSpc>
              <a:buNone/>
            </a:pPr>
            <a:r>
              <a:rPr lang="en-US" sz="1193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MODELLING METHOD · PUBLISHED SIMULATION</a:t>
            </a:r>
            <a:endParaRPr lang="en-US" sz="1193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74341"/>
            <a:ext cx="10883392" cy="7319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2527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Pore-scale surface complexation could link clay chemistry to biofilm models</a:t>
            </a:r>
            <a:endParaRPr lang="en-US" sz="2527" dirty="0"/>
          </a:p>
        </p:txBody>
      </p:sp>
      <p:sp>
        <p:nvSpPr>
          <p:cNvPr id="4" name="Shape 2"/>
          <p:cNvSpPr/>
          <p:nvPr/>
        </p:nvSpPr>
        <p:spPr>
          <a:xfrm>
            <a:off x="812800" y="2234884"/>
            <a:ext cx="4826000" cy="3708400"/>
          </a:xfrm>
          <a:prstGeom prst="roundRect">
            <a:avLst>
              <a:gd name="adj" fmla="val 2055"/>
            </a:avLst>
          </a:prstGeom>
          <a:solidFill>
            <a:srgbClr val="4B5563"/>
          </a:solidFill>
          <a:ln/>
        </p:spPr>
      </p:sp>
      <p:pic>
        <p:nvPicPr>
          <p:cNvPr id="5" name="Image 0" descr="Four 3D pore-scale panels: water fraction, H+ concentration, &gt;OCa+ and &gt;O- surface site densities on a rock pore image">    </p:cNvPr>
          <p:cNvPicPr>
            <a:picLocks noChangeAspect="1"/>
          </p:cNvPicPr>
          <p:nvPr/>
        </p:nvPicPr>
        <p:blipFill>
          <a:blip r:embed="rId1"/>
          <a:srcRect l="0" r="0" t="-60" b="-60"/>
          <a:stretch/>
        </p:blipFill>
        <p:spPr>
          <a:xfrm>
            <a:off x="812800" y="2234884"/>
            <a:ext cx="4826000" cy="3708400"/>
          </a:xfrm>
          <a:prstGeom prst="roundRect">
            <a:avLst>
              <a:gd name="adj" fmla="val 2055"/>
            </a:avLst>
          </a:prstGeom>
        </p:spPr>
      </p:pic>
      <p:sp>
        <p:nvSpPr>
          <p:cNvPr id="6" name="Text 3"/>
          <p:cNvSpPr/>
          <p:nvPr/>
        </p:nvSpPr>
        <p:spPr>
          <a:xfrm>
            <a:off x="6034532" y="2234884"/>
            <a:ext cx="5500116" cy="1786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3068" indent="-16306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sites &gt;SOH / &gt;SO⁻ / &gt;SOCa⁺; basal charge by cation exchange</a:t>
            </a:r>
            <a:endParaRPr lang="en-US" sz="1400" dirty="0"/>
          </a:p>
          <a:p>
            <a:pPr algn="l" marL="163068" indent="-16306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GeoChemFoam: OpenFOAM + PHREEQC on a micro-CT pore image</a:t>
            </a:r>
            <a:endParaRPr lang="en-US" sz="1400" dirty="0"/>
          </a:p>
          <a:p>
            <a:pPr algn="l" marL="163068" indent="-16306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Bentheimer sandstone with a montmorillonite surface model, CaCl₂ injected</a:t>
            </a:r>
            <a:endParaRPr lang="en-US" sz="1400" dirty="0"/>
          </a:p>
          <a:p>
            <a:pPr algn="l" marL="163068" indent="-16306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step: add biomass as a sorbent that changes over time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943600" y="4123370"/>
            <a:ext cx="5435600" cy="467360"/>
          </a:xfrm>
          <a:prstGeom prst="roundRect">
            <a:avLst>
              <a:gd name="adj" fmla="val 16304"/>
            </a:avLst>
          </a:prstGeom>
          <a:solidFill>
            <a:srgbClr val="F3E3C7"/>
          </a:solidFill>
          <a:ln/>
        </p:spPr>
        <p:txBody>
          <a:bodyPr wrap="square" lIns="130082" tIns="104682" rIns="0" bIns="79282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Sandstone, not bentonite. A method illustration only.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Figure: Maes &amp; Menke 2021, Transp. Porous Media 139:271-299, Fig. 14, CC BY 4.0. Panels: (a) water, (b) H⁺, (c) &gt;OCa⁺, (d) &gt;O⁻.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ANALOGUE · QUALITATIVE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58"/>
            <a:ext cx="10883392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Oklo’s clay halo shows a sealed, reducing system works, but it is not bentonite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5975" y="2263775"/>
            <a:ext cx="5175250" cy="1814195"/>
          </a:xfrm>
          <a:prstGeom prst="roundRect">
            <a:avLst>
              <a:gd name="adj" fmla="val 5425"/>
            </a:avLst>
          </a:prstGeom>
          <a:solidFill>
            <a:srgbClr val="F6F5F0"/>
          </a:solidFill>
          <a:ln w="6350">
            <a:solidFill>
              <a:srgbClr val="D2CCB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495550"/>
            <a:ext cx="485305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F6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shows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38682" y="2840992"/>
            <a:ext cx="4754499" cy="1030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3068" indent="-16306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Uraninite, phosphates and bitumen held actinides and rare earths within metres for ~2 billion years</a:t>
            </a:r>
            <a:endParaRPr lang="en-US" sz="1400" dirty="0"/>
          </a:p>
          <a:p>
            <a:pPr algn="l" marL="163068" indent="-16306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reactors made their own clay halo; ≈80% of the silica left reactor 2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00775" y="2263775"/>
            <a:ext cx="5175250" cy="1814195"/>
          </a:xfrm>
          <a:prstGeom prst="roundRect">
            <a:avLst>
              <a:gd name="adj" fmla="val 5425"/>
            </a:avLst>
          </a:prstGeom>
          <a:solidFill>
            <a:srgbClr val="F6F5F0"/>
          </a:solidFill>
          <a:ln w="6350">
            <a:solidFill>
              <a:srgbClr val="D2CC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2550" y="2495550"/>
            <a:ext cx="485305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doesn’t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23482" y="2840992"/>
            <a:ext cx="4754499" cy="1030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3068" indent="-16306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Halo is illite and Mg-chlorite formed at ~300-500 °C, not swelling smectite</a:t>
            </a:r>
            <a:endParaRPr lang="en-US" sz="1400" dirty="0"/>
          </a:p>
          <a:p>
            <a:pPr algn="l" marL="163068" indent="-163068">
              <a:lnSpc>
                <a:spcPts val="196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Cs, Sr, Ba almost all lost; no sorption or diffusion numbers for design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800" y="6238242"/>
            <a:ext cx="113792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Gauthier-Lafaye, Holliger &amp; Blanc 1996, GCA; Nagy et al. 1991, Nature; Oversby 2000, MRS Proc. (“qualitative, not performance-assessment numbers”).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2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D9A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OWN WORK · MODELS, NOT DATA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58"/>
            <a:ext cx="10883392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F3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My Oklo models say heat binds before radiolysis, and they are models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273300"/>
          <a:ext cx="10553700" cy="1930400"/>
        </p:xfrm>
        <a:graphic>
          <a:graphicData uri="http://schemas.openxmlformats.org/drawingml/2006/table">
            <a:tbl>
              <a:tblPr/>
              <a:tblGrid>
                <a:gridCol w="1899666"/>
                <a:gridCol w="8654034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E4E1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65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65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3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E4E1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5D65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65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65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3B3E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1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65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1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 survives up to ≈0.05-12,000 Gy/h depending on repair rate (central ≈700 Gy/h)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65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1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1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Gamma ≈2.5-6 Gy/h at the core face, mGy/h by 0.5 m; 122 °C limit lies 1.5-4 m out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1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1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Catalase can raise the gamma ceiling by at most ≈26%; matrix turnover dominates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1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1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Heat gradient ≈100 °C/m near the cores; no biofilm evidence at the reaction zones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F5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4577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FD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bench pilot is what would turn the biggest assumptions (crosslink density, turnover, iron chemistry) into measurements.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B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values: Gauthier-Lafaye et al. 1996. Everything labelled “Model” is my own estimate from published parameters.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D9A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ILLUSTRATION · PRESCRIBED FIELDS, NOT DATA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29358"/>
            <a:ext cx="1088339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F3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What the six-field cycle looks like when you render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2800" y="1795779"/>
            <a:ext cx="4848542" cy="2730500"/>
          </a:xfrm>
          <a:prstGeom prst="roundRect">
            <a:avLst>
              <a:gd name="adj" fmla="val 2326"/>
            </a:avLst>
          </a:prstGeom>
          <a:solidFill>
            <a:srgbClr val="0B0E10"/>
          </a:solidFill>
          <a:ln/>
        </p:spPr>
      </p:sp>
      <p:pic>
        <p:nvPicPr>
          <p:cNvPr id="5" name="Image 0" descr="Six wireframe isosurface panels rendered in ChimeraX: temperature, hydration, hydrogen, uranium ratio, polymer yield and compartment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1795779"/>
            <a:ext cx="4848542" cy="2730500"/>
          </a:xfrm>
          <a:prstGeom prst="roundRect">
            <a:avLst>
              <a:gd name="adj" fmla="val 2326"/>
            </a:avLst>
          </a:prstGeom>
        </p:spPr>
      </p:pic>
      <p:sp>
        <p:nvSpPr>
          <p:cNvPr id="6" name="Text 3"/>
          <p:cNvSpPr/>
          <p:nvPr/>
        </p:nvSpPr>
        <p:spPr>
          <a:xfrm>
            <a:off x="812800" y="4615179"/>
            <a:ext cx="535012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B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UCSF ChimeraX · wireframe over core isosurface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84900" y="1795779"/>
            <a:ext cx="4848542" cy="2730500"/>
          </a:xfrm>
          <a:prstGeom prst="roundRect">
            <a:avLst>
              <a:gd name="adj" fmla="val 2326"/>
            </a:avLst>
          </a:prstGeom>
          <a:solidFill>
            <a:srgbClr val="0B0E10"/>
          </a:solidFill>
          <a:ln/>
        </p:spPr>
      </p:sp>
      <p:pic>
        <p:nvPicPr>
          <p:cNvPr id="8" name="Image 1" descr="The same six fields rendered as ray-traced nested shells in PyMOL at a later phase of the cycl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84900" y="1795779"/>
            <a:ext cx="4848542" cy="2730500"/>
          </a:xfrm>
          <a:prstGeom prst="roundRect">
            <a:avLst>
              <a:gd name="adj" fmla="val 2326"/>
            </a:avLst>
          </a:prstGeom>
        </p:spPr>
      </p:pic>
      <p:sp>
        <p:nvSpPr>
          <p:cNvPr id="9" name="Text 5"/>
          <p:cNvSpPr/>
          <p:nvPr/>
        </p:nvSpPr>
        <p:spPr>
          <a:xfrm>
            <a:off x="6184900" y="4615179"/>
            <a:ext cx="535012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B2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PyMOL · ray-traced nested shells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12800" y="5031742"/>
            <a:ext cx="10566400" cy="759460"/>
          </a:xfrm>
          <a:prstGeom prst="roundRect">
            <a:avLst>
              <a:gd name="adj" fmla="val 10033"/>
            </a:avLst>
          </a:prstGeom>
          <a:solidFill>
            <a:srgbClr val="243034"/>
          </a:solidFill>
          <a:ln/>
        </p:spPr>
        <p:txBody>
          <a:bodyPr wrap="square" lIns="168182" tIns="117382" rIns="0" bIns="91982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E4E1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is:</a:t>
            </a:r>
            <a:r>
              <a:rPr lang="en-US" sz="1350" dirty="0">
                <a:solidFill>
                  <a:srgbClr val="E4E1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six closed-form fields on a 32³ grid, stepped through one cycle and rendered. The hollow shells are isosurfaces of those formulas. Nothing here is measured, fitted or simulated from transport equations.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12800" y="6238242"/>
            <a:ext cx="113792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A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Rendered from the frozen Revision-0 conformance fixture, which its own specification labels synthetic and prescribed-analytic. Shown as a visual aid only.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59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2"/>
              </a:lnSpc>
              <a:buNone/>
            </a:pPr>
            <a:r>
              <a:rPr lang="en-US" sz="1159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· NOT YET RUN</a:t>
            </a:r>
            <a:endParaRPr lang="en-US" sz="1159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41952"/>
            <a:ext cx="10883392" cy="7083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8"/>
              </a:lnSpc>
              <a:buNone/>
            </a:pPr>
            <a:r>
              <a:rPr lang="en-US" sz="2462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 2-4 week pilot can show biotic versus abiotic, but not thresholds</a:t>
            </a:r>
            <a:endParaRPr lang="en-US" sz="2462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166200"/>
          <a:ext cx="10553700" cy="1977813"/>
        </p:xfrm>
        <a:graphic>
          <a:graphicData uri="http://schemas.openxmlformats.org/drawingml/2006/table">
            <a:tbl>
              <a:tblPr/>
              <a:tblGrid>
                <a:gridCol w="2743962"/>
                <a:gridCol w="4221480"/>
                <a:gridCol w="3588258"/>
              </a:tblGrid>
              <a:tr h="350626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Arm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answers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Slurry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MX-80 ≈1:10, live SRB, lactate and sulfate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sulfide form at all in this system?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5627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Compacted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≈1.25 g/cm³ dry, live SRB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compaction change it at a reachable density?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Sterile clay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Autoclaved, same chemistry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Separates abiotic corrosion from microbial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organism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clay, no inoculum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Tests the clay’s own resident microbes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372608"/>
            <a:ext cx="10883392" cy="493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62"/>
              </a:lnSpc>
              <a:buNone/>
            </a:pPr>
            <a:r>
              <a:rPr lang="en-US" sz="1330" b="1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Readouts:</a:t>
            </a:r>
            <a:r>
              <a:rPr lang="en-US" sz="133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weekly sulfide and pH; at the end SEM/EDS, Raman (mackinawite versus Cu₂S), XRD d001, and mass loss after standard cleaning.</a:t>
            </a:r>
            <a:endParaRPr lang="en-US" sz="1330" dirty="0"/>
          </a:p>
        </p:txBody>
      </p:sp>
      <p:sp>
        <p:nvSpPr>
          <p:cNvPr id="6" name="Shape 3"/>
          <p:cNvSpPr/>
          <p:nvPr/>
        </p:nvSpPr>
        <p:spPr>
          <a:xfrm>
            <a:off x="812800" y="5069204"/>
            <a:ext cx="10566400" cy="772795"/>
          </a:xfrm>
          <a:prstGeom prst="roundRect">
            <a:avLst>
              <a:gd name="adj" fmla="val 9860"/>
            </a:avLst>
          </a:prstGeom>
          <a:solidFill>
            <a:srgbClr val="F3E3C7"/>
          </a:solidFill>
          <a:ln/>
        </p:spPr>
      </p:sp>
      <p:sp>
        <p:nvSpPr>
          <p:cNvPr id="7" name="Text 4"/>
          <p:cNvSpPr/>
          <p:nvPr/>
        </p:nvSpPr>
        <p:spPr>
          <a:xfrm>
            <a:off x="1016000" y="5221604"/>
            <a:ext cx="10464800" cy="493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62"/>
              </a:lnSpc>
              <a:buNone/>
            </a:pPr>
            <a:r>
              <a:rPr lang="en-US" sz="1330" b="1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limit:</a:t>
            </a:r>
            <a:r>
              <a:rPr lang="en-US" sz="1330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roughly 1 µm/yr, a few weeks of corrosion is below what a balance resolves. Sulfide and surface chemistry carry the result.</a:t>
            </a:r>
            <a:endParaRPr lang="en-US" sz="1330" dirty="0"/>
          </a:p>
        </p:txBody>
      </p:sp>
      <p:sp>
        <p:nvSpPr>
          <p:cNvPr id="8" name="Text 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after SKB TR-16-09 and Martinez-Moreno et al. 2023, minus the ³⁵S radiotracer. Triplicate arms. All BSL-1, non-radioactive.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· ONLY IF THE PILOT WARRANTS IT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54758"/>
            <a:ext cx="1088339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 3-6 month study would bracket the density threshold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5975" y="1849754"/>
            <a:ext cx="5175250" cy="3989070"/>
          </a:xfrm>
          <a:prstGeom prst="roundRect">
            <a:avLst>
              <a:gd name="adj" fmla="val 2467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081529"/>
            <a:ext cx="485305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F6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design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5413" y="2426971"/>
            <a:ext cx="4747768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Constant-volume cells at ≈1.75, 1.85, 1.95 g/cm³ wet, bracketing the published cut-off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Sacrifice at 1, 3 and 6 months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electrochemistry, sulfide profiles through the clay, and XPS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00775" y="1849754"/>
            <a:ext cx="5175250" cy="3989070"/>
          </a:xfrm>
          <a:prstGeom prst="roundRect">
            <a:avLst>
              <a:gd name="adj" fmla="val 2467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2550" y="2081529"/>
            <a:ext cx="485305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F6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arms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0213" y="2426971"/>
            <a:ext cx="4747768" cy="197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iron-reducing organism, to test whether clay iron chemistry shifts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Magnetic susceptibility of the clay, a fast non-destructive check for biogenic magnetite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Co, Zn and Mn at ≈1-50 µM, split between pore water, clay, biomass and coupon by ICP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published precedent found for that partition design, so it is my inference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12800" y="6024879"/>
            <a:ext cx="1088339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Densities after SKB TR-16-09. Magnetite versus siderite depends on headspace gas, pH and electron donor: Roh et al. 2003, Clays Clay Miner. 51:83-95. Stable metals only; no radioactive tracers at any stage.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AND SEPARATION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58"/>
            <a:ext cx="10883392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work stays BSL-1, non-radioactive and fully separate from my employer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5975" y="2263775"/>
            <a:ext cx="5175250" cy="2274570"/>
          </a:xfrm>
          <a:prstGeom prst="roundRect">
            <a:avLst>
              <a:gd name="adj" fmla="val 4327"/>
            </a:avLst>
          </a:prstGeom>
          <a:solidFill>
            <a:srgbClr val="F6F5F0"/>
          </a:solidFill>
          <a:ln w="6350">
            <a:solidFill>
              <a:srgbClr val="D2CCB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495550"/>
            <a:ext cx="485305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F6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Biosafety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5413" y="2840992"/>
            <a:ext cx="4747768" cy="149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DSMZ lists the candidate sulfate reducer (DSM 644, = ATCC 29579) as Risk Group 1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supplier page carries a conflicting product label, so I will confirm with them and your IBC before ordering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the genus was revised to </a:t>
            </a:r>
            <a:r>
              <a:rPr lang="en-US" sz="1350" i="1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Nitratidesulfovibrio</a:t>
            </a: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2020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IBC approval before any organism is handled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00775" y="2263775"/>
            <a:ext cx="5175250" cy="2274570"/>
          </a:xfrm>
          <a:prstGeom prst="roundRect">
            <a:avLst>
              <a:gd name="adj" fmla="val 4327"/>
            </a:avLst>
          </a:prstGeom>
          <a:solidFill>
            <a:srgbClr val="F6F5F0"/>
          </a:solidFill>
          <a:ln w="6350">
            <a:solidFill>
              <a:srgbClr val="D2CC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2550" y="2495550"/>
            <a:ext cx="485305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F6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0213" y="2840992"/>
            <a:ext cx="4747768" cy="1250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radioactivity anywhere in the design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employer facilities, data, imagery or branding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Outside-activity disclosure in progress with my supervisor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here is public literature or my own labelled models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58"/>
            <a:ext cx="10883392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 bring modelling and analysis, and I would need bench access and mentorship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5975" y="2263775"/>
            <a:ext cx="5175250" cy="2823210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3150" y="2520950"/>
            <a:ext cx="480072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F6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bring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64082" y="2866392"/>
            <a:ext cx="4702175" cy="15913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Reactive-transport and surface-complexation modelling</a:t>
            </a:r>
            <a:endParaRPr lang="en-US" sz="1400" dirty="0"/>
          </a:p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Julia numerics and data analysis</a:t>
            </a:r>
            <a:endParaRPr lang="en-US" sz="1400" dirty="0"/>
          </a:p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Analytical chemistry background: HPLC, ICP, GMP and GLP lab work</a:t>
            </a:r>
            <a:endParaRPr lang="en-US" sz="1400" dirty="0"/>
          </a:p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pre-registered readout plan, with every claim typed as measured, modelled or assumed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00775" y="2263775"/>
            <a:ext cx="5175250" cy="2823210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57950" y="2520950"/>
            <a:ext cx="480072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would need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48882" y="2866392"/>
            <a:ext cx="4702175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Anaerobic chamber and BSL-1 bench time</a:t>
            </a:r>
            <a:endParaRPr lang="en-US" sz="1400" dirty="0"/>
          </a:p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 SEM/EDS, XRD and Raman</a:t>
            </a:r>
            <a:endParaRPr lang="en-US" sz="1400" dirty="0"/>
          </a:p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Mentorship on biofilm and corrosion method choices</a:t>
            </a:r>
            <a:endParaRPr lang="en-US" sz="1400" dirty="0"/>
          </a:p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feedback on whether this is worth pursuing at all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800" y="5344158"/>
            <a:ext cx="1088339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Self-funded, evenings and weekends. Consumables for the pilot are plausibly a few thousand dollars, which is my estimate rather than a quote.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59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2"/>
              </a:lnSpc>
              <a:buNone/>
            </a:pPr>
            <a:r>
              <a:rPr lang="en-US" sz="1159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RUBRIC · EXTERNAL SCORER</a:t>
            </a:r>
            <a:endParaRPr lang="en-US" sz="1159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41952"/>
            <a:ext cx="10883392" cy="7083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8"/>
              </a:lnSpc>
              <a:buNone/>
            </a:pPr>
            <a:r>
              <a:rPr lang="en-US" sz="2462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Four defect axes for reviewing a slide or protocol, without a Boltzmann factor</a:t>
            </a:r>
            <a:endParaRPr lang="en-US" sz="2462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166200"/>
          <a:ext cx="10553700" cy="1977813"/>
        </p:xfrm>
        <a:graphic>
          <a:graphicData uri="http://schemas.openxmlformats.org/drawingml/2006/table">
            <a:tbl>
              <a:tblPr/>
              <a:tblGrid>
                <a:gridCol w="2743962"/>
                <a:gridCol w="4221480"/>
                <a:gridCol w="3588258"/>
              </a:tblGrid>
              <a:tr h="350626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Axis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checks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fails the check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Source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Primary-source attribution, units, and measured vs modelled labels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Secondary citations quoted as primary, missing density scales, or unverified DOIs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5627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Coordination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Screening, chelation (IUPAC C01012), and bridging kept distinct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Inferring cross-linking from surface potential or denticity without a monovalent control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Boundary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 limits between analogue, model, and bentonite conditions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Treating Oklo chlorite/illite or prescribed 32³ fields as bentonite transport data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Control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Sterile, killed-cell, and clay-free controls plus assay resolution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abiotic baseline, or claiming mass-loss resolution over 2 to 4 weeks at ~1 µm/yr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372608"/>
            <a:ext cx="10883392" cy="493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62"/>
              </a:lnSpc>
              <a:buNone/>
            </a:pPr>
            <a:r>
              <a:rPr lang="en-US" sz="1330" b="1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drop the exponential:</a:t>
            </a:r>
            <a:r>
              <a:rPr lang="en-US" sz="133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self-graded revision that lowers its own defect score lands at P = 1.000 by arithmetic; the acceptance test never runs.</a:t>
            </a:r>
            <a:endParaRPr lang="en-US" sz="1330" dirty="0"/>
          </a:p>
        </p:txBody>
      </p:sp>
      <p:sp>
        <p:nvSpPr>
          <p:cNvPr id="6" name="Shape 3"/>
          <p:cNvSpPr/>
          <p:nvPr/>
        </p:nvSpPr>
        <p:spPr>
          <a:xfrm>
            <a:off x="812800" y="5069204"/>
            <a:ext cx="10566400" cy="772795"/>
          </a:xfrm>
          <a:prstGeom prst="roundRect">
            <a:avLst>
              <a:gd name="adj" fmla="val 9860"/>
            </a:avLst>
          </a:prstGeom>
          <a:solidFill>
            <a:srgbClr val="F3E3C7"/>
          </a:solidFill>
          <a:ln/>
        </p:spPr>
      </p:sp>
      <p:sp>
        <p:nvSpPr>
          <p:cNvPr id="7" name="Text 4"/>
          <p:cNvSpPr/>
          <p:nvPr/>
        </p:nvSpPr>
        <p:spPr>
          <a:xfrm>
            <a:off x="1016000" y="5221604"/>
            <a:ext cx="10464800" cy="493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62"/>
              </a:lnSpc>
              <a:buNone/>
            </a:pPr>
            <a:r>
              <a:rPr lang="en-US" sz="1330" b="1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makes the rubric work:</a:t>
            </a:r>
            <a:r>
              <a:rPr lang="en-US" sz="1330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 independent scorer who did not write the revision grades the four axes directly (checker is never the committer).</a:t>
            </a:r>
            <a:endParaRPr lang="en-US" sz="1330" dirty="0"/>
          </a:p>
        </p:txBody>
      </p:sp>
      <p:sp>
        <p:nvSpPr>
          <p:cNvPr id="8" name="Text 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Four-axis review rubric (source, coordination, boundary, control) standing alone without statistical-mechanics weighting.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29358"/>
            <a:ext cx="1088339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References, all public literature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0844" y="1795785"/>
            <a:ext cx="5179060" cy="3187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Ferrage et al. 2005a, Am. Mineral. 90:1358; 2005b, Clays Clay Miner. 53:348  -  hydration states</a:t>
            </a:r>
            <a:endParaRPr lang="en-US" sz="1300" dirty="0"/>
          </a:p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Greenspan 1977, J. Res. NBS  -  fixed humidity points</a:t>
            </a:r>
            <a:endParaRPr lang="en-US" sz="1300" dirty="0"/>
          </a:p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Bengtsson et al., SKB TR-16-09  -  density and sulfide</a:t>
            </a:r>
            <a:endParaRPr lang="en-US" sz="1300" dirty="0"/>
          </a:p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Engel et al. 2023, mSphere  -  Grimsel MaCoTe, 5 years</a:t>
            </a:r>
            <a:endParaRPr lang="en-US" sz="1300" dirty="0"/>
          </a:p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Bartak et al. 2024, World J Microbiol Biotechnol  -  review</a:t>
            </a:r>
            <a:endParaRPr lang="en-US" sz="1300" dirty="0"/>
          </a:p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Necib et al. 2017, Swiss J Geosci  -  Mont Terri steel</a:t>
            </a:r>
            <a:endParaRPr lang="en-US" sz="1300" dirty="0"/>
          </a:p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Burzan et al. 2022, Front Microbiol  -  Mont Terri microbes</a:t>
            </a:r>
            <a:endParaRPr lang="en-US" sz="1300" dirty="0"/>
          </a:p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 et al. 2022, Appl Geochem  -  copper sulfide model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346444" y="1795785"/>
            <a:ext cx="5179060" cy="3187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Wersin et al. 2015  -  Äspö ABM1 iron and clay</a:t>
            </a:r>
            <a:endParaRPr lang="en-US" sz="1300" dirty="0"/>
          </a:p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Hadi et al. 2019  -  FEBEX, 18 years</a:t>
            </a:r>
            <a:endParaRPr lang="en-US" sz="1300" dirty="0"/>
          </a:p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 et al. 2004, Science  -  microbial smectite to illite</a:t>
            </a:r>
            <a:endParaRPr lang="en-US" sz="1300" dirty="0"/>
          </a:p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Stucki &amp; Kostka 2006  -  iron reduction and clay properties</a:t>
            </a:r>
            <a:endParaRPr lang="en-US" sz="1300" dirty="0"/>
          </a:p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Alimova et al. 2009  -  biofilm polymers in clay interlayers</a:t>
            </a:r>
            <a:endParaRPr lang="en-US" sz="1300" dirty="0"/>
          </a:p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Cuadros 2017, Clay Miner.  -  clay and microbe review</a:t>
            </a:r>
            <a:endParaRPr lang="en-US" sz="1300" dirty="0"/>
          </a:p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Maes &amp; Menke 2021, Transp. Porous Media  -  GeoChemFoam</a:t>
            </a:r>
            <a:endParaRPr lang="en-US" sz="1300" dirty="0"/>
          </a:p>
          <a:p>
            <a:pPr algn="l" marL="155956" indent="-1559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Gauthier-Lafaye et al. 1996, GCA; Oversby 2000  -  Oklo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12800" y="5161285"/>
            <a:ext cx="10566400" cy="680720"/>
          </a:xfrm>
          <a:prstGeom prst="roundRect">
            <a:avLst>
              <a:gd name="adj" fmla="val 11194"/>
            </a:avLst>
          </a:prstGeom>
          <a:solidFill>
            <a:srgbClr val="EAE7DF"/>
          </a:solidFill>
          <a:ln/>
        </p:spPr>
        <p:txBody>
          <a:bodyPr wrap="square" lIns="155482" tIns="104682" rIns="0" bIns="79282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citation is still unresolved and is flagged rather than quoted: a density threshold I can only trace to a secondary citation. Two earlier ambiguities are now closed: there are two separate Ferrage 2005 papers, and Masurat et al. 2010 is Appl. Clay Sci. 47:51-57.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54758"/>
            <a:ext cx="1088339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Density and water-activity thresholds, with their basis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59285"/>
          <a:ext cx="10553700" cy="2476500"/>
        </p:xfrm>
        <a:graphic>
          <a:graphicData uri="http://schemas.openxmlformats.org/drawingml/2006/table">
            <a:tbl>
              <a:tblPr/>
              <a:tblGrid>
                <a:gridCol w="3588258"/>
                <a:gridCol w="2955036"/>
                <a:gridCol w="4010406"/>
              </a:tblGrid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CF"/>
                    </a:solidFill>
                  </a:tcPr>
                </a:tc>
              </a:tr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Activity cut-off 1740-1880 kg/m³ wet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SKB TR-16-09, measured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Wet density; ≈1.2-1.4 dry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SKB design target 1950-2050 kg/m³ wet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 guidance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 biological threshold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277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 g/cm³ dry · a_w 0.96 · 2 MPa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Widely quoted triad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traced to a secondary citation; primary text unverified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a_w 0.954 at 1.50 g/cm³ dry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Grimsel field, measured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0.983 at 1.25 dry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Wet 2.0 ≈ dry 1.56 g/cm³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conversion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Assumes grain density 2.75-2.78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54758"/>
            <a:ext cx="1088339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Fixed humidity points for a hydration-controlled arm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59285"/>
          <a:ext cx="4889500" cy="2981960"/>
        </p:xfrm>
        <a:graphic>
          <a:graphicData uri="http://schemas.openxmlformats.org/drawingml/2006/table">
            <a:tbl>
              <a:tblPr/>
              <a:tblGrid>
                <a:gridCol w="2933700"/>
                <a:gridCol w="1955800"/>
              </a:tblGrid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Saturated salt at 25 °C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Relative humidity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CF"/>
                    </a:solidFill>
                  </a:tcPr>
                </a:tc>
              </a:tr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Lithium chloride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AB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Potassium acetate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Magnesium chloride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32.8%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Potassium carbonate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43.2%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Magnesium nitrate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52.9%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Sodium chloride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75.3%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Potassium sulfate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≈97.3%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22975" y="1849760"/>
            <a:ext cx="5353050" cy="2204402"/>
          </a:xfrm>
          <a:prstGeom prst="roundRect">
            <a:avLst>
              <a:gd name="adj" fmla="val 4465"/>
            </a:avLst>
          </a:prstGeom>
          <a:solidFill>
            <a:srgbClr val="F6F5F0"/>
          </a:solidFill>
          <a:ln w="6350">
            <a:solidFill>
              <a:srgbClr val="D2CCB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54750" y="2081535"/>
            <a:ext cx="5036185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F6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254750" y="2452365"/>
            <a:ext cx="5036185" cy="771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the clay at a chosen humidity sets how many water layers sit between the sheets, which XRD then reads directly as the d001 spacing.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254750" y="3325180"/>
            <a:ext cx="5036185" cy="522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turns “hydration state” from an adjective into a controlled variable, which is the part I find most interesting.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Greenspan 1977, J. Res. National Bureau of Standards 81A:89.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4672" y="722376"/>
            <a:ext cx="108356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 i="0">
                <a:solidFill>
                  <a:srgbClr val="A86418"/>
                </a:solidFill>
                <a:latin typeface="Arial"/>
              </a:rPr>
              <a:t>PROPOSED MEASUREMENT LAYER . FLOW CYTOMETRY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170432"/>
            <a:ext cx="10927080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50" b="1" i="0">
                <a:solidFill>
                  <a:srgbClr val="273238"/>
                </a:solidFill>
                <a:latin typeface="Georgia"/>
              </a:rPr>
              <a:t>Flow cytometry adds cell-state observations to the interface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65376"/>
            <a:ext cx="10881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40" b="0" i="0">
                <a:solidFill>
                  <a:srgbClr val="536168"/>
                </a:solidFill>
                <a:latin typeface="Arial"/>
              </a:rPr>
              <a:t>It measures suspended-cell phenotypes; by itself, it does not preserve where cells sat inside clay or a biofilm.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" y="2423160"/>
            <a:ext cx="3493008" cy="2514600"/>
          </a:xfrm>
          <a:prstGeom prst="roundRect">
            <a:avLst/>
          </a:prstGeom>
          <a:solidFill>
            <a:srgbClr val="E4EDF4"/>
          </a:solidFill>
          <a:ln w="10160">
            <a:solidFill>
              <a:srgbClr val="D4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551176"/>
            <a:ext cx="316382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4A779D"/>
                </a:solidFill>
                <a:latin typeface="Arial"/>
              </a:rPr>
              <a:t>WHAT IT CAN MEASURE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" y="2980944"/>
            <a:ext cx="3163824" cy="1819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Gated cell-event counts and concentration using counting beads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Dye-defined membrane-integrity classes, after strain-specific validation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Scatter and per-cell fluorescence distributions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Optional metabolic / ROS panels only after assay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35424" y="2423160"/>
            <a:ext cx="3493008" cy="2514600"/>
          </a:xfrm>
          <a:prstGeom prst="roundRect">
            <a:avLst/>
          </a:prstGeom>
          <a:solidFill>
            <a:srgbClr val="E1EBE6"/>
          </a:solidFill>
          <a:ln w="10160">
            <a:solidFill>
              <a:srgbClr val="D4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0016" y="2551176"/>
            <a:ext cx="316382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3C6D65"/>
                </a:solidFill>
                <a:latin typeface="Arial"/>
              </a:rPr>
              <a:t>WHAT IT CONSTRAINS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0016" y="2980944"/>
            <a:ext cx="3163824" cy="1819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Suspended and detached-cell abundance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Fractions in measured physiological-state gates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Net growth/death or attachment/detachment rates when time series are available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Equifinality: similar bulk chemistry can arise from different cell-state histories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2423160"/>
            <a:ext cx="3493008" cy="2514600"/>
          </a:xfrm>
          <a:prstGeom prst="roundRect">
            <a:avLst/>
          </a:prstGeom>
          <a:solidFill>
            <a:srgbClr val="F5E5C5"/>
          </a:solidFill>
          <a:ln w="10160">
            <a:solidFill>
              <a:srgbClr val="D4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0768" y="2551176"/>
            <a:ext cx="316382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A86418"/>
                </a:solidFill>
                <a:latin typeface="Arial"/>
              </a:rPr>
              <a:t>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980944"/>
            <a:ext cx="3163824" cy="1819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Spatial position in the clay pore network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EPS cross-link density or mineral phase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Corrosion rate / causal mechanism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"Live" status from fluorescence alone without controls; clay particles and aggregates can distort gates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" y="5138928"/>
            <a:ext cx="10917936" cy="658368"/>
          </a:xfrm>
          <a:prstGeom prst="roundRect">
            <a:avLst/>
          </a:prstGeom>
          <a:solidFill>
            <a:srgbClr val="F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5285232"/>
            <a:ext cx="10552176" cy="3931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10" b="1" i="0">
                <a:solidFill>
                  <a:srgbClr val="273238"/>
                </a:solidFill>
                <a:latin typeface="Arial"/>
              </a:rPr>
              <a:t>MINIMUM VIABLE ADD-ON: absolute counts + a validated membrane-integrity panel at preselected timepoints; keep maximum pit depth as the primary corrosion endpoint.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6236208"/>
            <a:ext cx="109270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0" i="0">
                <a:solidFill>
                  <a:srgbClr val="536168"/>
                </a:solidFill>
                <a:latin typeface="Arial"/>
              </a:rPr>
              <a:t>Sources: Kerstens et al. (2015), doi:10.1007/s12223-015-0400-4; Grainha et al. (2020), doi:10.3390/antibiotics9110741; Yip et al. (2022), doi:10.1371/journal.pcbi.1010533.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4672" y="722376"/>
            <a:ext cx="108356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 i="0">
                <a:solidFill>
                  <a:srgbClr val="A86418"/>
                </a:solidFill>
                <a:latin typeface="Arial"/>
              </a:rPr>
              <a:t>PROPOSED MODEL INTERFACE . NOT YET IMPLEMENTED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170432"/>
            <a:ext cx="109270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273238"/>
                </a:solidFill>
                <a:latin typeface="Georgia"/>
              </a:rPr>
              <a:t>Keep the physics solvers; add a cytometry observation operator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10512"/>
            <a:ext cx="10881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40" b="0" i="0">
                <a:solidFill>
                  <a:srgbClr val="536168"/>
                </a:solidFill>
                <a:latin typeface="Arial"/>
              </a:rPr>
              <a:t>OpenFOAM and PHREEQC drive the forward model; flow cytometry constrains the biological state through measured summaries.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" y="2331720"/>
            <a:ext cx="2267712" cy="1170432"/>
          </a:xfrm>
          <a:prstGeom prst="roundRect">
            <a:avLst/>
          </a:prstGeom>
          <a:solidFill>
            <a:srgbClr val="E5E4DF"/>
          </a:solidFill>
          <a:ln w="10160">
            <a:solidFill>
              <a:srgbClr val="D4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459736"/>
            <a:ext cx="193852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36168"/>
                </a:solidFill>
                <a:latin typeface="Arial"/>
              </a:rPr>
              <a:t>OPENFOAM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" y="2889503"/>
            <a:ext cx="193852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0" i="0">
                <a:solidFill>
                  <a:srgbClr val="273238"/>
                </a:solidFill>
                <a:latin typeface="Arial"/>
              </a:rPr>
              <a:t>FLOW: u(x,t), shear, residence time, transport / detachment cues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3749039"/>
            <a:ext cx="2267712" cy="1170432"/>
          </a:xfrm>
          <a:prstGeom prst="roundRect">
            <a:avLst/>
          </a:prstGeom>
          <a:solidFill>
            <a:srgbClr val="F5E5C5"/>
          </a:solidFill>
          <a:ln w="10160">
            <a:solidFill>
              <a:srgbClr val="D4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3877055"/>
            <a:ext cx="193852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A86418"/>
                </a:solidFill>
                <a:latin typeface="Arial"/>
              </a:rPr>
              <a:t>PHREEQC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4306824"/>
            <a:ext cx="193852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73238"/>
                </a:solidFill>
                <a:latin typeface="Arial"/>
              </a:rPr>
              <a:t>AQUEOUS CHEMISTRY: pH / pe, ionic strength, Ca/Mg, Fe/S speciation, mineral saturation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2889504"/>
            <a:ext cx="2423160" cy="1481328"/>
          </a:xfrm>
          <a:prstGeom prst="roundRect">
            <a:avLst/>
          </a:prstGeom>
          <a:solidFill>
            <a:srgbClr val="E1EBE6"/>
          </a:solidFill>
          <a:ln w="10160">
            <a:solidFill>
              <a:srgbClr val="D4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67911" y="3017520"/>
            <a:ext cx="2093976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3C6D65"/>
                </a:solidFill>
                <a:latin typeface="Arial"/>
              </a:rPr>
              <a:t>JULIA . CELL STATES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1" y="3447288"/>
            <a:ext cx="2093976" cy="7863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73238"/>
                </a:solidFill>
                <a:latin typeface="Arial"/>
              </a:rPr>
              <a:t>Attached / suspended cells; membrane-intact, compromised and dead-like states; EPS proxy; growth, death and detachment rates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39128" y="2889504"/>
            <a:ext cx="2139696" cy="1481328"/>
          </a:xfrm>
          <a:prstGeom prst="roundRect">
            <a:avLst/>
          </a:prstGeom>
          <a:solidFill>
            <a:srgbClr val="E4EDF4"/>
          </a:solidFill>
          <a:ln w="10160">
            <a:solidFill>
              <a:srgbClr val="D4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3017520"/>
            <a:ext cx="181051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4A779D"/>
                </a:solidFill>
                <a:latin typeface="Arial"/>
              </a:rPr>
              <a:t>PREDICTED FCM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447288"/>
            <a:ext cx="1810512" cy="7863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73238"/>
                </a:solidFill>
                <a:latin typeface="Arial"/>
              </a:rPr>
              <a:t>Predict gate fractions and absolute cell concentration from the latent state and gate calibration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45752" y="2331720"/>
            <a:ext cx="2267712" cy="11704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0344" y="2459736"/>
            <a:ext cx="193852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4A779D"/>
                </a:solidFill>
                <a:latin typeface="Arial"/>
              </a:rPr>
              <a:t>MEASURED FCM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0344" y="2889503"/>
            <a:ext cx="193852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273238"/>
                </a:solidFill>
                <a:latin typeface="Arial"/>
              </a:rPr>
              <a:t>Gate counts, bead events, dilution, sample origin, extraction recovery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45752" y="3749039"/>
            <a:ext cx="2267712" cy="1170432"/>
          </a:xfrm>
          <a:prstGeom prst="roundRect">
            <a:avLst/>
          </a:prstGeom>
          <a:solidFill>
            <a:srgbClr val="F5E5C5"/>
          </a:solidFill>
          <a:ln w="10160">
            <a:solidFill>
              <a:srgbClr val="D4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0344" y="3877055"/>
            <a:ext cx="193852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30" b="1" i="0">
                <a:solidFill>
                  <a:srgbClr val="A86418"/>
                </a:solidFill>
                <a:latin typeface="Arial"/>
              </a:rPr>
              <a:t>LIKELIHOOD + 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0344" y="4306824"/>
            <a:ext cx="193852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 i="0">
                <a:solidFill>
                  <a:srgbClr val="273238"/>
                </a:solidFill>
                <a:latin typeface="Arial"/>
              </a:rPr>
              <a:t>Compare observed with predicted counts / fractions; check uncertainty, predictive fit and rival mechanisms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72384" y="2907792"/>
            <a:ext cx="585216" cy="457200"/>
          </a:xfrm>
          <a:prstGeom prst="line">
            <a:avLst/>
          </a:prstGeom>
          <a:ln w="22860">
            <a:solidFill>
              <a:srgbClr val="536168"/>
            </a:solidFill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3547872" y="3291840"/>
            <a:ext cx="146304" cy="146304"/>
          </a:xfrm>
          <a:prstGeom prst="triangle">
            <a:avLst/>
          </a:prstGeom>
          <a:solidFill>
            <a:srgbClr val="536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3072384" y="3858768"/>
            <a:ext cx="585216" cy="457200"/>
          </a:xfrm>
          <a:prstGeom prst="line">
            <a:avLst/>
          </a:prstGeom>
          <a:ln w="22860">
            <a:solidFill>
              <a:srgbClr val="A86418"/>
            </a:solidFill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3547872" y="3785615"/>
            <a:ext cx="146304" cy="146304"/>
          </a:xfrm>
          <a:prstGeom prst="triangle">
            <a:avLst/>
          </a:prstGeom>
          <a:solidFill>
            <a:srgbClr val="A86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126480" y="3630168"/>
            <a:ext cx="566928" cy="0"/>
          </a:xfrm>
          <a:prstGeom prst="line">
            <a:avLst/>
          </a:prstGeom>
          <a:ln w="25400">
            <a:solidFill>
              <a:srgbClr val="3C6D65"/>
            </a:solidFill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601968" y="3557016"/>
            <a:ext cx="146304" cy="146304"/>
          </a:xfrm>
          <a:prstGeom prst="triangle">
            <a:avLst/>
          </a:prstGeom>
          <a:solidFill>
            <a:srgbClr val="3C6D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8842248" y="4151376"/>
            <a:ext cx="557784" cy="100584"/>
          </a:xfrm>
          <a:prstGeom prst="line">
            <a:avLst/>
          </a:prstGeom>
          <a:ln w="22860">
            <a:solidFill>
              <a:srgbClr val="4A779D"/>
            </a:solidFill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9308592" y="4178808"/>
            <a:ext cx="146304" cy="146304"/>
          </a:xfrm>
          <a:prstGeom prst="triangle">
            <a:avLst/>
          </a:prstGeom>
          <a:solidFill>
            <a:srgbClr val="4A77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0579608" y="3538728"/>
            <a:ext cx="0" cy="164592"/>
          </a:xfrm>
          <a:prstGeom prst="line">
            <a:avLst/>
          </a:prstGeom>
          <a:ln w="22860">
            <a:solidFill>
              <a:srgbClr val="A86418"/>
            </a:solidFill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10506456" y="3611880"/>
            <a:ext cx="146304" cy="146304"/>
          </a:xfrm>
          <a:prstGeom prst="triangle">
            <a:avLst/>
          </a:prstGeom>
          <a:solidFill>
            <a:srgbClr val="A86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37192" y="3465576"/>
            <a:ext cx="2011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69" b="1" i="0">
                <a:solidFill>
                  <a:srgbClr val="4A779D"/>
                </a:solidFill>
                <a:latin typeface="Arial"/>
              </a:rPr>
              <a:t>OBSERVED DATA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" y="5230368"/>
            <a:ext cx="10917936" cy="621792"/>
          </a:xfrm>
          <a:prstGeom prst="roundRect">
            <a:avLst/>
          </a:prstGeom>
          <a:solidFill>
            <a:srgbClr val="F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5321808"/>
            <a:ext cx="1051560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0" b="1" i="0">
                <a:solidFill>
                  <a:srgbClr val="273238"/>
                </a:solidFill>
                <a:latin typeface="Arial"/>
              </a:rPr>
              <a:t>BOUNDARY: cytometry loses spatial location; pair it with microscopy / endpoint surface analysis. Do not force OpenFOAM or PHREEQC into a nanocarrier assay unless those physical and aqueous-chemistry fields are genuinely part of that experiment.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" y="6236208"/>
            <a:ext cx="109270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0" i="0">
                <a:solidFill>
                  <a:srgbClr val="536168"/>
                </a:solidFill>
                <a:latin typeface="Arial"/>
              </a:rPr>
              <a:t>Calibration framework: Yip et al. (2022), PLoS Comput Biol 18(10):e1010533. Lab context: Nano-Bio Lab, Single-Cell Analysis and computational cell classification.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ay, Microbes and Metal">
  <a:themeElements>
    <a:clrScheme name="Clay, Microbes and Metal">
      <a:dk1>
        <a:srgbClr val="1F2A2E"/>
      </a:dk1>
      <a:lt1>
        <a:srgbClr val="F6F5F0"/>
      </a:lt1>
      <a:dk2>
        <a:srgbClr val="555D5F"/>
      </a:dk2>
      <a:lt2>
        <a:srgbClr val="E1E1DD"/>
      </a:lt2>
      <a:accent1>
        <a:srgbClr val="8A5212"/>
      </a:accent1>
      <a:accent2>
        <a:srgbClr val="2F6B66"/>
      </a:accent2>
      <a:accent3>
        <a:srgbClr val="D9A65A"/>
      </a:accent3>
      <a:accent4>
        <a:srgbClr val="F3E3C7"/>
      </a:accent4>
      <a:accent5>
        <a:srgbClr val="3E4A50"/>
      </a:accent5>
      <a:accent6>
        <a:srgbClr val="5A6670"/>
      </a:accent6>
      <a:hlink>
        <a:srgbClr val="0563C1"/>
      </a:hlink>
      <a:folHlink>
        <a:srgbClr val="954F72"/>
      </a:folHlink>
    </a:clrScheme>
    <a:fontScheme name="Clay, Microbes and Metal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Clay, Microbes and Metal</dc:title>
  <dc:subject/>
  <dc:creator/>
  <cp:lastModifiedBy/>
  <cp:revision>1</cp:revision>
  <dcterms:created xsi:type="dcterms:W3CDTF">2026-10-29T04:32:17Z</dcterms:created>
  <dcterms:modified xsi:type="dcterms:W3CDTF">2026-10-29T04:32:17Z</dcterms:modified>
</cp:coreProperties>
</file>